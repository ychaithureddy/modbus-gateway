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940"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8039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Deliver this as a narrative — read the paragraphs smoothly, don't rush.</a:t>
            </a:r>
          </a:p>
          <a:p>
            <a:endParaRPr/>
          </a:p>
          <a:p>
            <a:r>
              <a:t>'Before we built Aquagen, the device had a simple but damaging pair of problems.</a:t>
            </a:r>
          </a:p>
          <a:p>
            <a:endParaRPr/>
          </a:p>
          <a:p>
            <a:r>
              <a:t>It was losing data in the field, and it was locking out anyone who wasn't a developer.</a:t>
            </a:r>
          </a:p>
          <a:p>
            <a:endParaRPr/>
          </a:p>
          <a:p>
            <a:r>
              <a:t>The first problem was connectivity. Our ESP32 device could only connect over WiFi. At many installation sites, the WiFi was unstable or simply not available. Whenever the network dropped, telemetry from that window was lost permanently — the device had no local buffer, no replay, no recovery.</a:t>
            </a:r>
          </a:p>
          <a:p>
            <a:endParaRPr/>
          </a:p>
          <a:p>
            <a:r>
              <a:t>The second problem was configuration. Every change — however small — required opening the Arduino source code, editing it manually, recompiling, and reflashing the firmware into the ESP32. Every update became a developer-only task. Non-technical users were locked out entirely.</a:t>
            </a:r>
          </a:p>
          <a:p>
            <a:endParaRPr/>
          </a:p>
          <a:p>
            <a:r>
              <a:t>The result — data loss, compliance gaps in customer reports, constant truck rolls for field visits, and a device that could not be deployed at scale without engineering involvement.</a:t>
            </a:r>
          </a:p>
          <a:p>
            <a:endParaRPr/>
          </a:p>
          <a:p>
            <a:r>
              <a:t>Two failures, one device: connectivity and configuration. This is the mountain we set out to move.'</a:t>
            </a:r>
          </a:p>
          <a:p>
            <a:endParaRPr/>
          </a:p>
          <a:p>
            <a:r>
              <a:t>Timing: 75 seconds.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058400" cy="195951"/>
          </a:xfrm>
          <a:prstGeom prst="rect">
            <a:avLst/>
          </a:prstGeom>
          <a:noFill/>
        </p:spPr>
        <p:txBody>
          <a:bodyPr wrap="square" lIns="0" tIns="0" rIns="0" bIns="0" anchor="t">
            <a:spAutoFit/>
          </a:bodyPr>
          <a:lstStyle/>
          <a:p>
            <a:pPr algn="l">
              <a:lnSpc>
                <a:spcPct val="125000"/>
              </a:lnSpc>
            </a:pPr>
            <a:endParaRPr sz="1100" b="1" i="0" dirty="0">
              <a:solidFill>
                <a:srgbClr val="E63946"/>
              </a:solidFill>
              <a:latin typeface="Calibri"/>
            </a:endParaRPr>
          </a:p>
        </p:txBody>
      </p:sp>
      <p:sp>
        <p:nvSpPr>
          <p:cNvPr id="4" name="TextBox 3"/>
          <p:cNvSpPr txBox="1"/>
          <p:nvPr/>
        </p:nvSpPr>
        <p:spPr>
          <a:xfrm>
            <a:off x="548640" y="548640"/>
            <a:ext cx="10972800" cy="534377"/>
          </a:xfrm>
          <a:prstGeom prst="rect">
            <a:avLst/>
          </a:prstGeom>
          <a:noFill/>
        </p:spPr>
        <p:txBody>
          <a:bodyPr wrap="square" lIns="0" tIns="0" rIns="0" bIns="0" anchor="t">
            <a:spAutoFit/>
          </a:bodyPr>
          <a:lstStyle/>
          <a:p>
            <a:pPr algn="l">
              <a:lnSpc>
                <a:spcPct val="125000"/>
              </a:lnSpc>
            </a:pPr>
            <a:r>
              <a:rPr lang="en-IN" sz="3000" b="1" i="0" dirty="0">
                <a:solidFill>
                  <a:srgbClr val="0A2540"/>
                </a:solidFill>
                <a:latin typeface="Calibri"/>
              </a:rPr>
              <a:t>     </a:t>
            </a:r>
            <a:r>
              <a:rPr sz="3000" b="1" i="0" dirty="0">
                <a:solidFill>
                  <a:srgbClr val="0A2540"/>
                </a:solidFill>
                <a:latin typeface="Calibri"/>
              </a:rPr>
              <a:t>What was broken before </a:t>
            </a:r>
            <a:r>
              <a:rPr sz="3000" b="1" i="0" dirty="0" err="1">
                <a:solidFill>
                  <a:srgbClr val="0A2540"/>
                </a:solidFill>
                <a:latin typeface="Calibri"/>
              </a:rPr>
              <a:t>Aquagen</a:t>
            </a:r>
            <a:endParaRPr sz="3000" b="1" i="0" dirty="0">
              <a:solidFill>
                <a:srgbClr val="0A2540"/>
              </a:solidFill>
              <a:latin typeface="Calibri"/>
            </a:endParaRPr>
          </a:p>
        </p:txBody>
      </p:sp>
      <p:cxnSp>
        <p:nvCxnSpPr>
          <p:cNvPr id="5" name="Connector 4"/>
          <p:cNvCxnSpPr/>
          <p:nvPr/>
        </p:nvCxnSpPr>
        <p:spPr>
          <a:xfrm>
            <a:off x="548640" y="1234440"/>
            <a:ext cx="11064240" cy="0"/>
          </a:xfrm>
          <a:prstGeom prst="line">
            <a:avLst/>
          </a:prstGeom>
          <a:ln w="12700">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48640" y="1645920"/>
            <a:ext cx="91440" cy="4114800"/>
          </a:xfrm>
          <a:prstGeom prst="rect">
            <a:avLst/>
          </a:prstGeom>
          <a:solidFill>
            <a:srgbClr val="00C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00200"/>
            <a:ext cx="10607040" cy="498726"/>
          </a:xfrm>
          <a:prstGeom prst="rect">
            <a:avLst/>
          </a:prstGeom>
          <a:noFill/>
        </p:spPr>
        <p:txBody>
          <a:bodyPr wrap="square" lIns="0" tIns="0" rIns="0" bIns="0" anchor="t">
            <a:spAutoFit/>
          </a:bodyPr>
          <a:lstStyle/>
          <a:p>
            <a:pPr algn="l">
              <a:lnSpc>
                <a:spcPct val="125000"/>
              </a:lnSpc>
            </a:pPr>
            <a:r>
              <a:rPr sz="2800" b="1" i="0" dirty="0">
                <a:solidFill>
                  <a:srgbClr val="0A2540"/>
                </a:solidFill>
                <a:latin typeface="Calibri"/>
              </a:rPr>
              <a:t>The device was losing data in the field </a:t>
            </a:r>
            <a:r>
              <a:rPr lang="en-IN" sz="2800" b="1" dirty="0">
                <a:solidFill>
                  <a:srgbClr val="0A2540"/>
                </a:solidFill>
                <a:latin typeface="Calibri"/>
              </a:rPr>
              <a:t>:</a:t>
            </a:r>
            <a:endParaRPr sz="2800" b="1" i="0" dirty="0">
              <a:solidFill>
                <a:srgbClr val="0A2540"/>
              </a:solidFill>
              <a:latin typeface="Calibri"/>
            </a:endParaRPr>
          </a:p>
        </p:txBody>
      </p:sp>
      <p:sp>
        <p:nvSpPr>
          <p:cNvPr id="8" name="TextBox 7"/>
          <p:cNvSpPr txBox="1"/>
          <p:nvPr/>
        </p:nvSpPr>
        <p:spPr>
          <a:xfrm>
            <a:off x="914400" y="2249807"/>
            <a:ext cx="10607040" cy="721993"/>
          </a:xfrm>
          <a:prstGeom prst="rect">
            <a:avLst/>
          </a:prstGeom>
          <a:noFill/>
        </p:spPr>
        <p:txBody>
          <a:bodyPr wrap="square" lIns="0" tIns="0" rIns="0" bIns="0" anchor="t">
            <a:spAutoFit/>
          </a:bodyPr>
          <a:lstStyle/>
          <a:p>
            <a:pPr algn="l">
              <a:lnSpc>
                <a:spcPct val="155000"/>
              </a:lnSpc>
            </a:pPr>
            <a:r>
              <a:rPr sz="1600" b="0" i="0" dirty="0">
                <a:solidFill>
                  <a:srgbClr val="2A2E37"/>
                </a:solidFill>
                <a:latin typeface="Calibri"/>
              </a:rPr>
              <a:t>Our ESP32 IoT device could only connect over </a:t>
            </a:r>
            <a:r>
              <a:rPr sz="1600" b="0" i="0" dirty="0" err="1">
                <a:solidFill>
                  <a:srgbClr val="2A2E37"/>
                </a:solidFill>
                <a:latin typeface="Calibri"/>
              </a:rPr>
              <a:t>WiFi</a:t>
            </a:r>
            <a:r>
              <a:rPr sz="1600" b="0" i="0" dirty="0">
                <a:solidFill>
                  <a:srgbClr val="2A2E37"/>
                </a:solidFill>
                <a:latin typeface="Calibri"/>
              </a:rPr>
              <a:t>. At many installation sites the </a:t>
            </a:r>
            <a:r>
              <a:rPr sz="1600" b="0" i="0" dirty="0" err="1">
                <a:solidFill>
                  <a:srgbClr val="2A2E37"/>
                </a:solidFill>
                <a:latin typeface="Calibri"/>
              </a:rPr>
              <a:t>WiFi</a:t>
            </a:r>
            <a:r>
              <a:rPr sz="1600" b="0" i="0" dirty="0">
                <a:solidFill>
                  <a:srgbClr val="2A2E37"/>
                </a:solidFill>
                <a:latin typeface="Calibri"/>
              </a:rPr>
              <a:t> was unstable or unavailable altogether. Whenever the network dropped, telemetry from that </a:t>
            </a:r>
            <a:r>
              <a:rPr lang="en-IN" sz="1600" b="0" i="0" dirty="0">
                <a:solidFill>
                  <a:srgbClr val="2A2E37"/>
                </a:solidFill>
                <a:latin typeface="Calibri"/>
              </a:rPr>
              <a:t>IOT Device</a:t>
            </a:r>
            <a:r>
              <a:rPr sz="1600" b="0" i="0" dirty="0">
                <a:solidFill>
                  <a:srgbClr val="2A2E37"/>
                </a:solidFill>
                <a:latin typeface="Calibri"/>
              </a:rPr>
              <a:t> was lost permanently — no local buffer, no replay, no recovery.</a:t>
            </a:r>
          </a:p>
        </p:txBody>
      </p:sp>
      <p:sp>
        <p:nvSpPr>
          <p:cNvPr id="9" name="TextBox 8"/>
          <p:cNvSpPr txBox="1"/>
          <p:nvPr/>
        </p:nvSpPr>
        <p:spPr>
          <a:xfrm>
            <a:off x="914400" y="3151502"/>
            <a:ext cx="10607040" cy="1103635"/>
          </a:xfrm>
          <a:prstGeom prst="rect">
            <a:avLst/>
          </a:prstGeom>
          <a:noFill/>
        </p:spPr>
        <p:txBody>
          <a:bodyPr wrap="square" lIns="0" tIns="0" rIns="0" bIns="0" anchor="t">
            <a:spAutoFit/>
          </a:bodyPr>
          <a:lstStyle/>
          <a:p>
            <a:pPr algn="l">
              <a:lnSpc>
                <a:spcPct val="155000"/>
              </a:lnSpc>
            </a:pPr>
            <a:r>
              <a:rPr sz="1600" b="0" i="0" dirty="0">
                <a:solidFill>
                  <a:srgbClr val="2A2E37"/>
                </a:solidFill>
                <a:latin typeface="Calibri"/>
              </a:rPr>
              <a:t>At the same time, every configuration change — however small — required opening the Arduino source code, editing it manually, recompiling, and </a:t>
            </a:r>
            <a:r>
              <a:rPr sz="1600" b="0" i="0" dirty="0" err="1">
                <a:solidFill>
                  <a:srgbClr val="2A2E37"/>
                </a:solidFill>
                <a:latin typeface="Calibri"/>
              </a:rPr>
              <a:t>reflashing</a:t>
            </a:r>
            <a:r>
              <a:rPr sz="1600" b="0" i="0" dirty="0">
                <a:solidFill>
                  <a:srgbClr val="2A2E37"/>
                </a:solidFill>
                <a:latin typeface="Calibri"/>
              </a:rPr>
              <a:t> the firmware into the ESP32. Every update became a developer-only task, locking out non-technical users entirely.</a:t>
            </a:r>
          </a:p>
        </p:txBody>
      </p:sp>
      <p:sp>
        <p:nvSpPr>
          <p:cNvPr id="10" name="TextBox 9"/>
          <p:cNvSpPr txBox="1"/>
          <p:nvPr/>
        </p:nvSpPr>
        <p:spPr>
          <a:xfrm>
            <a:off x="914400" y="4404629"/>
            <a:ext cx="10607040" cy="721993"/>
          </a:xfrm>
          <a:prstGeom prst="rect">
            <a:avLst/>
          </a:prstGeom>
          <a:noFill/>
        </p:spPr>
        <p:txBody>
          <a:bodyPr wrap="square" lIns="0" tIns="0" rIns="0" bIns="0" anchor="t">
            <a:spAutoFit/>
          </a:bodyPr>
          <a:lstStyle/>
          <a:p>
            <a:pPr algn="l">
              <a:lnSpc>
                <a:spcPct val="155000"/>
              </a:lnSpc>
            </a:pPr>
            <a:r>
              <a:rPr sz="1600" b="0" i="0" dirty="0">
                <a:solidFill>
                  <a:srgbClr val="2A2E37"/>
                </a:solidFill>
                <a:latin typeface="Calibri"/>
              </a:rPr>
              <a:t>The result was data loss, compliance gaps in customer reports, constant truck rolls for field visits, and a device that could not be deployed at scale without engineering involvement.</a:t>
            </a:r>
          </a:p>
        </p:txBody>
      </p:sp>
      <p:sp>
        <p:nvSpPr>
          <p:cNvPr id="11" name="TextBox 10"/>
          <p:cNvSpPr txBox="1"/>
          <p:nvPr/>
        </p:nvSpPr>
        <p:spPr>
          <a:xfrm>
            <a:off x="914400" y="6309360"/>
            <a:ext cx="10607040" cy="365760"/>
          </a:xfrm>
          <a:prstGeom prst="rect">
            <a:avLst/>
          </a:prstGeom>
          <a:noFill/>
        </p:spPr>
        <p:txBody>
          <a:bodyPr wrap="square" lIns="0" tIns="0" rIns="0" bIns="0" anchor="t">
            <a:spAutoFit/>
          </a:bodyPr>
          <a:lstStyle/>
          <a:p>
            <a:pPr algn="l">
              <a:lnSpc>
                <a:spcPct val="120000"/>
              </a:lnSpc>
            </a:pPr>
            <a:r>
              <a:rPr sz="1300" b="0" i="1">
                <a:solidFill>
                  <a:srgbClr val="008C85"/>
                </a:solidFill>
                <a:latin typeface="Calibri"/>
              </a:rPr>
              <a:t>Two failures, one device: connectivity and configuration.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359</Words>
  <Application>Microsoft Office PowerPoint</Application>
  <PresentationFormat>Widescreen</PresentationFormat>
  <Paragraphs>21</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chaithanya reddy</cp:lastModifiedBy>
  <cp:revision>2</cp:revision>
  <dcterms:created xsi:type="dcterms:W3CDTF">2013-01-27T09:14:16Z</dcterms:created>
  <dcterms:modified xsi:type="dcterms:W3CDTF">2026-04-23T14:04:30Z</dcterms:modified>
  <cp:category/>
</cp:coreProperties>
</file>