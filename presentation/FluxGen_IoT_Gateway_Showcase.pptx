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strong — eye contact before first word.</a:t>
            </a:r>
          </a:p>
          <a:p/>
          <a:p>
            <a:r>
              <a:t>'Good morning. In the next ten minutes, I'll walk you through a project that transformed our ESP32 IoT device — from a WiFi-dependent system into a smart hybrid solution that handles network outages, stores data safely offline, and lets anyone configure it through a web browser.</a:t>
            </a:r>
          </a:p>
          <a:p/>
          <a:p>
            <a:r>
              <a:t>Three upgrades, one simple story. Let's go through it.'</a:t>
            </a:r>
          </a:p>
          <a:p/>
          <a:p>
            <a:r>
              <a:t>Pause 2 seconds. Click.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this upgrade, the device had two big problems.</a:t>
            </a:r>
          </a:p>
          <a:p/>
          <a:p>
            <a:r>
              <a:t>ONE — connectivity. It only supported WiFi. At many installation sites, WiFi was unstable or simply unavailable. Whenever the network dropped, data was lost permanently. There was no local buffer, no replay, no recovery.</a:t>
            </a:r>
          </a:p>
          <a:p/>
          <a:p>
            <a:r>
              <a:t>TWO — configuration. To change any setting — even something small — we had to open the Arduino source code, modify it manually, and reflash the firmware into the ESP32. This was technical, time-consuming, and locked out non-technical users completely.</a:t>
            </a:r>
          </a:p>
          <a:p/>
          <a:p>
            <a:r>
              <a:t>On the right — the real-world impact. Data loss. Technical dependency. Slow rollout. Poor experience for anyone who was not a developer.</a:t>
            </a:r>
          </a:p>
          <a:p/>
          <a:p>
            <a:r>
              <a:t>This is the baseline we set out to fix.'</a:t>
            </a:r>
          </a:p>
          <a:p/>
          <a:p>
            <a:r>
              <a:t>Timing: 75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solved both problems with four additions.</a:t>
            </a:r>
          </a:p>
          <a:p/>
          <a:p>
            <a:r>
              <a:t>One — SIM Module. The device can now use a mobile cellular network directly. It no longer depends only on WiFi.</a:t>
            </a:r>
          </a:p>
          <a:p/>
          <a:p>
            <a:r>
              <a:t>Two — SD Card Backup. Whenever the network goes down, the SD card activates automatically and stores every data ping locally. No more permanent data loss.</a:t>
            </a:r>
          </a:p>
          <a:p/>
          <a:p>
            <a:r>
              <a:t>Three — RTC Module, which is a real-time clock. It keeps accurate date and time continuously, so every ping stored on the SD card gets a correct timestamp.</a:t>
            </a:r>
          </a:p>
          <a:p/>
          <a:p>
            <a:r>
              <a:t>Four — a Web Server. We built a browser-based configuration portal. Users can now configure the device from any web browser. No Arduino editing, no firmware reflash, no developer required.</a:t>
            </a:r>
          </a:p>
          <a:p/>
          <a:p>
            <a:r>
              <a:t>The next four slides go into each one.'</a:t>
            </a:r>
          </a:p>
          <a:p/>
          <a:p>
            <a:r>
              <a:t>Timing: 60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addition — the SIM Module.</a:t>
            </a:r>
          </a:p>
          <a:p/>
          <a:p>
            <a:r>
              <a:t>The device can now connect to the internet through a mobile cellular SIM, directly. This removes the single-point-of-failure we had with WiFi-only connectivity.</a:t>
            </a:r>
          </a:p>
          <a:p/>
          <a:p>
            <a:r>
              <a:t>Five concrete benefits.</a:t>
            </a:r>
          </a:p>
          <a:p/>
          <a:p>
            <a:r>
              <a:t>One — it uses the mobile network directly, just like a smartphone.</a:t>
            </a:r>
          </a:p>
          <a:p/>
          <a:p>
            <a:r>
              <a:t>Two — it reduces dependency on WiFi. Even if local WiFi fails, the device stays connected.</a:t>
            </a:r>
          </a:p>
          <a:p/>
          <a:p>
            <a:r>
              <a:t>Three — it works in remote or unstable areas where WiFi either doesn't exist or isn't reliable.</a:t>
            </a:r>
          </a:p>
          <a:p/>
          <a:p>
            <a:r>
              <a:t>Four — it minimizes transmission failures. Our telemetry reaches the cloud under a wider range of field conditions.</a:t>
            </a:r>
          </a:p>
          <a:p/>
          <a:p>
            <a:r>
              <a:t>Five — overall uptime and reliability goes up. Significantly.'</a:t>
            </a:r>
          </a:p>
          <a:p/>
          <a:p>
            <a:r>
              <a:t>Timing: 70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addition — SD Card Backup.</a:t>
            </a:r>
          </a:p>
          <a:p/>
          <a:p>
            <a:r>
              <a:t>Whenever the internet or network connection goes down, the SD card backup activates automatically. There's no manual step, no user intervention — the device detects the outage and switches to local storage.</a:t>
            </a:r>
          </a:p>
          <a:p/>
          <a:p>
            <a:r>
              <a:t>Every data ping gets stored locally on the SD card with its timestamp.</a:t>
            </a:r>
          </a:p>
          <a:p/>
          <a:p>
            <a:r>
              <a:t>When the network comes back, the device replays all the cached data to the cloud in chronological order — so the server sees the readings in the exact sequence they were captured.</a:t>
            </a:r>
          </a:p>
          <a:p/>
          <a:p>
            <a:r>
              <a:t>The bottom bar shows the flow — network drop, SD activates, store locally, network recovers, replay. No data is lost, no matter how long the outage lasts.'</a:t>
            </a:r>
          </a:p>
          <a:p/>
          <a:p>
            <a:r>
              <a:t>Timing: 70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addition — the RTC Module.</a:t>
            </a:r>
          </a:p>
          <a:p/>
          <a:p>
            <a:r>
              <a:t>RTC stands for Real-Time Clock. It's a dedicated piece of hardware that tracks the current date and time continuously — independent of the network and independent of whether the device has power to the main processor.</a:t>
            </a:r>
          </a:p>
          <a:p/>
          <a:p>
            <a:r>
              <a:t>Why does this matter? Because when the SD card is buffering data during a network outage, we need to know exactly when each reading was captured — not when it eventually reaches the cloud.</a:t>
            </a:r>
          </a:p>
          <a:p/>
          <a:p>
            <a:r>
              <a:t>The RTC makes sure every ping stored on the SD card gets an exact, accurate timestamp. This means our historical records, compliance reports, and analytics all reflect the real time of capture.</a:t>
            </a:r>
          </a:p>
          <a:p/>
          <a:p>
            <a:r>
              <a:t>It also means we have full traceability across any outage — we can always tell exactly when each reading happened.'</a:t>
            </a:r>
          </a:p>
          <a:p/>
          <a:p>
            <a:r>
              <a:t>Timing: 65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addition — the Web Server.</a:t>
            </a:r>
          </a:p>
          <a:p/>
          <a:p>
            <a:r>
              <a:t>Before this, changing any configuration on the device meant opening the Arduino IDE, editing the source code, recompiling, and reflashing the firmware. You needed a developer, a laptop with the build environment, and time.</a:t>
            </a:r>
          </a:p>
          <a:p/>
          <a:p>
            <a:r>
              <a:t>We built a browser-based configuration portal. Now anyone — technical or not — can open a browser, connect to the device, change settings in a clean UI, and click save. That's it.</a:t>
            </a:r>
          </a:p>
          <a:p/>
          <a:p>
            <a:r>
              <a:t>On the right you can see the before-and-after. Before took six technical steps. After takes four simple clicks, and anyone can do it.</a:t>
            </a:r>
          </a:p>
          <a:p/>
          <a:p>
            <a:r>
              <a:t>This is the change that makes the device genuinely deployable at scale — because rolling out a hundred sites no longer bottlenecks on developer availability.'</a:t>
            </a:r>
          </a:p>
          <a:p/>
          <a:p>
            <a:r>
              <a:t>Timing: 70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actual product. Let the screenshots speak.</a:t>
            </a:r>
          </a:p>
          <a:p/>
          <a:p>
            <a:r>
              <a:t>'This is what the portal actually looks like — running live on the device.</a:t>
            </a:r>
          </a:p>
          <a:p/>
          <a:p>
            <a:r>
              <a:t>On the left — the Dashboard. Real-time system status. Firmware version, MAC address, uptime, heap usage, active tasks. Operations teams can check device health at a glance without needing a terminal or a developer.</a:t>
            </a:r>
          </a:p>
          <a:p/>
          <a:p>
            <a:r>
              <a:t>On the right — Sensor Management. We can add a new Modbus sensor, configure its unit ID, slave ID, register, data type, byte order, scale factor — all from the browser. Then test the connection with a single click. Edit or delete at any time.</a:t>
            </a:r>
          </a:p>
          <a:p/>
          <a:p>
            <a:r>
              <a:t>The bar at the bottom shows the six portal sections — Overview, Network Config, Azure IoT Hub, Modbus Sensors, Write Operations, OTA Update. Every device setting is reachable from here.</a:t>
            </a:r>
          </a:p>
          <a:p/>
          <a:p>
            <a:r>
              <a:t>This portal is what replaced the Arduino-IDE-and-reflash workflow.'</a:t>
            </a:r>
          </a:p>
          <a:p/>
          <a:p>
            <a:r>
              <a:t>Timing: 75 seconds. Let the room look at the screenshots — don't rush.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'Adding those four features gave us six direct business outcomes.</a:t>
            </a:r>
          </a:p>
          <a:p/>
          <a:p>
            <a:r>
              <a:t>One — major reduction in data loss. The SD backup and SIM failover together mean data keeps flowing even when networks fail.</a:t>
            </a:r>
          </a:p>
          <a:p/>
          <a:p>
            <a:r>
              <a:t>Two — improved connectivity reliability. Dual network takes WiFi out of being a single point of failure.</a:t>
            </a:r>
          </a:p>
          <a:p/>
          <a:p>
            <a:r>
              <a:t>Three — easier field deployment. Commissioning a new site is now a browser-and-settings operation, not a firmware operation.</a:t>
            </a:r>
          </a:p>
          <a:p/>
          <a:p>
            <a:r>
              <a:t>Four — reduced technical dependency. Non-technical users can configure, monitor, and adjust the device.</a:t>
            </a:r>
          </a:p>
          <a:p/>
          <a:p>
            <a:r>
              <a:t>Five — faster customer support. Configuration changes happen remotely, no site visits needed.</a:t>
            </a:r>
          </a:p>
          <a:p/>
          <a:p>
            <a:r>
              <a:t>Six — better user experience across the board. Simpler UI, more reliable behavior.'</a:t>
            </a:r>
          </a:p>
          <a:p/>
          <a:p>
            <a:r>
              <a:t>Timing: 75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slide. Deliver from memory, quietly, with weight.</a:t>
            </a:r>
          </a:p>
          <a:p/>
          <a:p>
            <a:r>
              <a:t>'To summarize —</a:t>
            </a:r>
          </a:p>
          <a:p/>
          <a:p>
            <a:r>
              <a:t>This project took a WiFi-dependent ESP32 device and transformed it into a smart hybrid IoT solution.</a:t>
            </a:r>
          </a:p>
          <a:p/>
          <a:p>
            <a:r>
              <a:t>Four additions made the difference — SIM module for cellular connectivity, SD card for offline backup, RTC for accurate timestamps, and a web server for easy configuration.</a:t>
            </a:r>
          </a:p>
          <a:p/>
          <a:p>
            <a:r>
              <a:t>The result — major reduction in data loss, improved reliability, easier deployment, and a much better user experience.</a:t>
            </a:r>
          </a:p>
          <a:p/>
          <a:p>
            <a:r>
              <a:t>From data loss to smart reliability. A complete IoT upgrade.</a:t>
            </a:r>
          </a:p>
          <a:p/>
          <a:p>
            <a:r>
              <a:t>Thank you.'</a:t>
            </a:r>
          </a:p>
          <a:p/>
          <a:p>
            <a:r>
              <a:t>Then stop talking. Pause. Let silence work. Five seconds minimum.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777240"/>
            <a:ext cx="7315200" cy="365760"/>
          </a:xfrm>
          <a:prstGeom prst="rect">
            <a:avLst/>
          </a:prstGeom>
          <a:noFill/>
        </p:spPr>
        <p:txBody>
          <a:bodyPr wrap="square" lIns="0" rIns="0" tIns="0" bIns="0" anchor="t">
            <a:spAutoFit/>
          </a:bodyPr>
          <a:lstStyle/>
          <a:p>
            <a:pPr algn="l">
              <a:lnSpc>
                <a:spcPct val="115000"/>
              </a:lnSpc>
            </a:pPr>
            <a:r>
              <a:rPr sz="1200" b="1">
                <a:solidFill>
                  <a:srgbClr val="00C2B8"/>
                </a:solidFill>
                <a:latin typeface="Calibri"/>
              </a:rPr>
              <a:t>PROJECT SHOWCASE</a:t>
            </a:r>
          </a:p>
        </p:txBody>
      </p:sp>
      <p:sp>
        <p:nvSpPr>
          <p:cNvPr id="4" name="TextBox 3"/>
          <p:cNvSpPr txBox="1"/>
          <p:nvPr/>
        </p:nvSpPr>
        <p:spPr>
          <a:xfrm>
            <a:off x="822960" y="1737360"/>
            <a:ext cx="10972800" cy="1097280"/>
          </a:xfrm>
          <a:prstGeom prst="rect">
            <a:avLst/>
          </a:prstGeom>
          <a:noFill/>
        </p:spPr>
        <p:txBody>
          <a:bodyPr wrap="square" lIns="0" rIns="0" tIns="0" bIns="0" anchor="t">
            <a:spAutoFit/>
          </a:bodyPr>
          <a:lstStyle/>
          <a:p>
            <a:pPr algn="l">
              <a:lnSpc>
                <a:spcPct val="100000"/>
              </a:lnSpc>
            </a:pPr>
            <a:r>
              <a:rPr sz="6200" b="1">
                <a:solidFill>
                  <a:srgbClr val="FFFFFF"/>
                </a:solidFill>
                <a:latin typeface="Calibri"/>
              </a:rPr>
              <a:t>ESP32 IoT Device</a:t>
            </a:r>
          </a:p>
        </p:txBody>
      </p:sp>
      <p:sp>
        <p:nvSpPr>
          <p:cNvPr id="5" name="TextBox 4"/>
          <p:cNvSpPr txBox="1"/>
          <p:nvPr/>
        </p:nvSpPr>
        <p:spPr>
          <a:xfrm>
            <a:off x="822960" y="2697480"/>
            <a:ext cx="10972800" cy="1097280"/>
          </a:xfrm>
          <a:prstGeom prst="rect">
            <a:avLst/>
          </a:prstGeom>
          <a:noFill/>
        </p:spPr>
        <p:txBody>
          <a:bodyPr wrap="square" lIns="0" rIns="0" tIns="0" bIns="0" anchor="t">
            <a:spAutoFit/>
          </a:bodyPr>
          <a:lstStyle/>
          <a:p>
            <a:pPr algn="l">
              <a:lnSpc>
                <a:spcPct val="100000"/>
              </a:lnSpc>
            </a:pPr>
            <a:r>
              <a:rPr sz="6200" b="1">
                <a:solidFill>
                  <a:srgbClr val="FFFFFF"/>
                </a:solidFill>
                <a:latin typeface="Calibri"/>
              </a:rPr>
              <a:t>Enhancement</a:t>
            </a:r>
          </a:p>
        </p:txBody>
      </p:sp>
      <p:sp>
        <p:nvSpPr>
          <p:cNvPr id="6" name="Rectangle 5"/>
          <p:cNvSpPr/>
          <p:nvPr/>
        </p:nvSpPr>
        <p:spPr>
          <a:xfrm>
            <a:off x="868680" y="3886200"/>
            <a:ext cx="1097280" cy="4572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069080"/>
            <a:ext cx="10789920" cy="457200"/>
          </a:xfrm>
          <a:prstGeom prst="rect">
            <a:avLst/>
          </a:prstGeom>
          <a:noFill/>
        </p:spPr>
        <p:txBody>
          <a:bodyPr wrap="square" lIns="0" rIns="0" tIns="0" bIns="0" anchor="t">
            <a:spAutoFit/>
          </a:bodyPr>
          <a:lstStyle/>
          <a:p>
            <a:pPr algn="l">
              <a:lnSpc>
                <a:spcPct val="115000"/>
              </a:lnSpc>
            </a:pPr>
            <a:r>
              <a:rPr sz="2000" b="0">
                <a:solidFill>
                  <a:srgbClr val="00C2B8"/>
                </a:solidFill>
                <a:latin typeface="Calibri"/>
              </a:rPr>
              <a:t>SIM Connectivity   ·   SD Card Backup   ·   Web-Based Configuration</a:t>
            </a:r>
          </a:p>
        </p:txBody>
      </p:sp>
      <p:sp>
        <p:nvSpPr>
          <p:cNvPr id="8" name="TextBox 7"/>
          <p:cNvSpPr txBox="1"/>
          <p:nvPr/>
        </p:nvSpPr>
        <p:spPr>
          <a:xfrm>
            <a:off x="822960" y="4617720"/>
            <a:ext cx="10789920" cy="365760"/>
          </a:xfrm>
          <a:prstGeom prst="rect">
            <a:avLst/>
          </a:prstGeom>
          <a:noFill/>
        </p:spPr>
        <p:txBody>
          <a:bodyPr wrap="square" lIns="0" rIns="0" tIns="0" bIns="0" anchor="t">
            <a:spAutoFit/>
          </a:bodyPr>
          <a:lstStyle/>
          <a:p>
            <a:pPr algn="l">
              <a:lnSpc>
                <a:spcPct val="115000"/>
              </a:lnSpc>
            </a:pPr>
            <a:r>
              <a:rPr sz="1400" b="0">
                <a:solidFill>
                  <a:srgbClr val="959CA8"/>
                </a:solidFill>
                <a:latin typeface="Calibri"/>
              </a:rPr>
              <a:t>From WiFi-dependent to smart hybrid IoT solution</a:t>
            </a:r>
          </a:p>
        </p:txBody>
      </p:sp>
      <p:sp>
        <p:nvSpPr>
          <p:cNvPr id="9" name="Rounded Rectangle 8"/>
          <p:cNvSpPr/>
          <p:nvPr/>
        </p:nvSpPr>
        <p:spPr>
          <a:xfrm>
            <a:off x="822960" y="5349240"/>
            <a:ext cx="5029200" cy="1143000"/>
          </a:xfrm>
          <a:prstGeom prst="roundRect">
            <a:avLst>
              <a:gd name="adj" fmla="val 12000"/>
            </a:avLst>
          </a:prstGeom>
          <a:solidFill>
            <a:srgbClr val="0E2C4C"/>
          </a:solidFill>
          <a:ln w="9525">
            <a:solidFill>
              <a:srgbClr val="1F4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486400"/>
            <a:ext cx="4572000" cy="274320"/>
          </a:xfrm>
          <a:prstGeom prst="rect">
            <a:avLst/>
          </a:prstGeom>
          <a:noFill/>
        </p:spPr>
        <p:txBody>
          <a:bodyPr wrap="square" lIns="0" rIns="0" tIns="0" bIns="0" anchor="t">
            <a:spAutoFit/>
          </a:bodyPr>
          <a:lstStyle/>
          <a:p>
            <a:pPr algn="l">
              <a:lnSpc>
                <a:spcPct val="115000"/>
              </a:lnSpc>
            </a:pPr>
            <a:r>
              <a:rPr sz="1000" b="1">
                <a:solidFill>
                  <a:srgbClr val="00C2B8"/>
                </a:solidFill>
                <a:latin typeface="Calibri"/>
              </a:rPr>
              <a:t>PRESENTED BY</a:t>
            </a:r>
          </a:p>
        </p:txBody>
      </p:sp>
      <p:sp>
        <p:nvSpPr>
          <p:cNvPr id="11" name="TextBox 10"/>
          <p:cNvSpPr txBox="1"/>
          <p:nvPr/>
        </p:nvSpPr>
        <p:spPr>
          <a:xfrm>
            <a:off x="1051560" y="5760720"/>
            <a:ext cx="4572000" cy="320040"/>
          </a:xfrm>
          <a:prstGeom prst="rect">
            <a:avLst/>
          </a:prstGeom>
          <a:noFill/>
        </p:spPr>
        <p:txBody>
          <a:bodyPr wrap="square" lIns="0" rIns="0" tIns="0" bIns="0" anchor="t">
            <a:spAutoFit/>
          </a:bodyPr>
          <a:lstStyle/>
          <a:p>
            <a:pPr algn="l">
              <a:lnSpc>
                <a:spcPct val="115000"/>
              </a:lnSpc>
            </a:pPr>
            <a:r>
              <a:rPr sz="1700" b="1">
                <a:solidFill>
                  <a:srgbClr val="FFFFFF"/>
                </a:solidFill>
                <a:latin typeface="Calibri"/>
              </a:rPr>
              <a:t>Y Chaithanya Reddy</a:t>
            </a:r>
          </a:p>
        </p:txBody>
      </p:sp>
      <p:sp>
        <p:nvSpPr>
          <p:cNvPr id="12" name="TextBox 11"/>
          <p:cNvSpPr txBox="1"/>
          <p:nvPr/>
        </p:nvSpPr>
        <p:spPr>
          <a:xfrm>
            <a:off x="1051560" y="6080760"/>
            <a:ext cx="4572000" cy="274320"/>
          </a:xfrm>
          <a:prstGeom prst="rect">
            <a:avLst/>
          </a:prstGeom>
          <a:noFill/>
        </p:spPr>
        <p:txBody>
          <a:bodyPr wrap="square" lIns="0" rIns="0" tIns="0" bIns="0" anchor="t">
            <a:spAutoFit/>
          </a:bodyPr>
          <a:lstStyle/>
          <a:p>
            <a:pPr algn="l">
              <a:lnSpc>
                <a:spcPct val="115000"/>
              </a:lnSpc>
            </a:pPr>
            <a:r>
              <a:rPr sz="1000" b="0">
                <a:solidFill>
                  <a:srgbClr val="959CA8"/>
                </a:solidFill>
                <a:latin typeface="Calibri"/>
              </a:rPr>
              <a:t>IoT Platform  ·  Firmware &amp; Cloud  ·  April 2026</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PREVIOUS SYSTEM CHALLENGES</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What was breaking before the upgrade</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 y="1600200"/>
            <a:ext cx="5486400" cy="4663440"/>
          </a:xfrm>
          <a:prstGeom prst="roundRect">
            <a:avLst>
              <a:gd name="adj" fmla="val 4000"/>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320040"/>
          </a:xfrm>
          <a:prstGeom prst="rect">
            <a:avLst/>
          </a:prstGeom>
          <a:noFill/>
        </p:spPr>
        <p:txBody>
          <a:bodyPr wrap="square" lIns="0" rIns="0" tIns="0" bIns="0" anchor="t">
            <a:spAutoFit/>
          </a:bodyPr>
          <a:lstStyle/>
          <a:p>
            <a:pPr algn="l">
              <a:lnSpc>
                <a:spcPct val="115000"/>
              </a:lnSpc>
            </a:pPr>
            <a:r>
              <a:rPr sz="1100" b="1">
                <a:solidFill>
                  <a:srgbClr val="E63946"/>
                </a:solidFill>
                <a:latin typeface="Calibri"/>
              </a:rPr>
              <a:t>FIELD REALITY</a:t>
            </a:r>
          </a:p>
        </p:txBody>
      </p:sp>
      <p:sp>
        <p:nvSpPr>
          <p:cNvPr id="8" name="TextBox 7"/>
          <p:cNvSpPr txBox="1"/>
          <p:nvPr/>
        </p:nvSpPr>
        <p:spPr>
          <a:xfrm>
            <a:off x="914400" y="2103120"/>
            <a:ext cx="475488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WiFi-only. Code-only.</a:t>
            </a:r>
          </a:p>
        </p:txBody>
      </p:sp>
      <p:sp>
        <p:nvSpPr>
          <p:cNvPr id="9" name="TextBox 8"/>
          <p:cNvSpPr txBox="1"/>
          <p:nvPr/>
        </p:nvSpPr>
        <p:spPr>
          <a:xfrm>
            <a:off x="914400" y="2834640"/>
            <a:ext cx="4754880" cy="3383280"/>
          </a:xfrm>
          <a:prstGeom prst="rect">
            <a:avLst/>
          </a:prstGeom>
          <a:noFill/>
        </p:spPr>
        <p:txBody>
          <a:bodyPr wrap="square" lIns="0" rIns="0" tIns="0" bIns="0">
            <a:spAutoFit/>
          </a:bodyPr>
          <a:lstStyle/>
          <a:p>
            <a:pPr>
              <a:lnSpc>
                <a:spcPct val="160000"/>
              </a:lnSpc>
              <a:spcAft>
                <a:spcPts val="400"/>
              </a:spcAft>
            </a:pPr>
            <a:r>
              <a:rPr sz="1300" b="1">
                <a:solidFill>
                  <a:srgbClr val="E63946"/>
                </a:solidFill>
                <a:latin typeface="Calibri"/>
              </a:rPr>
              <a:t>●  </a:t>
            </a:r>
            <a:r>
              <a:rPr sz="1300" b="1">
                <a:solidFill>
                  <a:srgbClr val="1A1A1A"/>
                </a:solidFill>
                <a:latin typeface="Calibri"/>
              </a:rPr>
              <a:t>Only WiFi connectivity → </a:t>
            </a:r>
            <a:r>
              <a:rPr sz="1300">
                <a:solidFill>
                  <a:srgbClr val="1A1A1A"/>
                </a:solidFill>
                <a:latin typeface="Calibri"/>
              </a:rPr>
              <a:t>no cellular fallback available.</a:t>
            </a:r>
          </a:p>
          <a:p>
            <a:pPr>
              <a:lnSpc>
                <a:spcPct val="160000"/>
              </a:lnSpc>
              <a:spcAft>
                <a:spcPts val="400"/>
              </a:spcAft>
            </a:pPr>
            <a:r>
              <a:rPr sz="1300" b="1">
                <a:solidFill>
                  <a:srgbClr val="E63946"/>
                </a:solidFill>
                <a:latin typeface="Calibri"/>
              </a:rPr>
              <a:t>●  </a:t>
            </a:r>
            <a:r>
              <a:rPr sz="1300" b="1">
                <a:solidFill>
                  <a:srgbClr val="1A1A1A"/>
                </a:solidFill>
                <a:latin typeface="Calibri"/>
              </a:rPr>
              <a:t>Unstable WiFi at many sites → </a:t>
            </a:r>
            <a:r>
              <a:rPr sz="1300">
                <a:solidFill>
                  <a:srgbClr val="1A1A1A"/>
                </a:solidFill>
                <a:latin typeface="Calibri"/>
              </a:rPr>
              <a:t>frequent network downtime.</a:t>
            </a:r>
          </a:p>
          <a:p>
            <a:pPr>
              <a:lnSpc>
                <a:spcPct val="160000"/>
              </a:lnSpc>
              <a:spcAft>
                <a:spcPts val="400"/>
              </a:spcAft>
            </a:pPr>
            <a:r>
              <a:rPr sz="1300" b="1">
                <a:solidFill>
                  <a:srgbClr val="E63946"/>
                </a:solidFill>
                <a:latin typeface="Calibri"/>
              </a:rPr>
              <a:t>●  </a:t>
            </a:r>
            <a:r>
              <a:rPr sz="1300" b="1">
                <a:solidFill>
                  <a:srgbClr val="1A1A1A"/>
                </a:solidFill>
                <a:latin typeface="Calibri"/>
              </a:rPr>
              <a:t>Network drops → </a:t>
            </a:r>
            <a:r>
              <a:rPr sz="1300">
                <a:solidFill>
                  <a:srgbClr val="1A1A1A"/>
                </a:solidFill>
                <a:latin typeface="Calibri"/>
              </a:rPr>
              <a:t>significant data loss, no recovery.</a:t>
            </a:r>
          </a:p>
          <a:p>
            <a:pPr>
              <a:lnSpc>
                <a:spcPct val="160000"/>
              </a:lnSpc>
              <a:spcAft>
                <a:spcPts val="400"/>
              </a:spcAft>
            </a:pPr>
            <a:r>
              <a:rPr sz="1300" b="1">
                <a:solidFill>
                  <a:srgbClr val="E63946"/>
                </a:solidFill>
                <a:latin typeface="Calibri"/>
              </a:rPr>
              <a:t>●  </a:t>
            </a:r>
            <a:r>
              <a:rPr sz="1300" b="1">
                <a:solidFill>
                  <a:srgbClr val="1A1A1A"/>
                </a:solidFill>
                <a:latin typeface="Calibri"/>
              </a:rPr>
              <a:t>Any config change → </a:t>
            </a:r>
            <a:r>
              <a:rPr sz="1300">
                <a:solidFill>
                  <a:srgbClr val="1A1A1A"/>
                </a:solidFill>
                <a:latin typeface="Calibri"/>
              </a:rPr>
              <a:t>open Arduino code, edit, recompile.</a:t>
            </a:r>
          </a:p>
          <a:p>
            <a:pPr>
              <a:lnSpc>
                <a:spcPct val="160000"/>
              </a:lnSpc>
              <a:spcAft>
                <a:spcPts val="400"/>
              </a:spcAft>
            </a:pPr>
            <a:r>
              <a:rPr sz="1300" b="1">
                <a:solidFill>
                  <a:srgbClr val="E63946"/>
                </a:solidFill>
                <a:latin typeface="Calibri"/>
              </a:rPr>
              <a:t>●  </a:t>
            </a:r>
            <a:r>
              <a:rPr sz="1300" b="1">
                <a:solidFill>
                  <a:srgbClr val="1A1A1A"/>
                </a:solidFill>
                <a:latin typeface="Calibri"/>
              </a:rPr>
              <a:t>Every update → </a:t>
            </a:r>
            <a:r>
              <a:rPr sz="1300">
                <a:solidFill>
                  <a:srgbClr val="1A1A1A"/>
                </a:solidFill>
                <a:latin typeface="Calibri"/>
              </a:rPr>
              <a:t>reflash firmware into the ESP32 manually.</a:t>
            </a:r>
          </a:p>
        </p:txBody>
      </p:sp>
      <p:sp>
        <p:nvSpPr>
          <p:cNvPr id="10" name="TextBox 9"/>
          <p:cNvSpPr txBox="1"/>
          <p:nvPr/>
        </p:nvSpPr>
        <p:spPr>
          <a:xfrm>
            <a:off x="6309360" y="1691640"/>
            <a:ext cx="5349240" cy="365760"/>
          </a:xfrm>
          <a:prstGeom prst="rect">
            <a:avLst/>
          </a:prstGeom>
          <a:noFill/>
        </p:spPr>
        <p:txBody>
          <a:bodyPr wrap="square" lIns="0" rIns="0" tIns="0" bIns="0" anchor="t">
            <a:spAutoFit/>
          </a:bodyPr>
          <a:lstStyle/>
          <a:p>
            <a:pPr algn="l">
              <a:lnSpc>
                <a:spcPct val="115000"/>
              </a:lnSpc>
            </a:pPr>
            <a:r>
              <a:rPr sz="1100" b="1">
                <a:solidFill>
                  <a:srgbClr val="D48441"/>
                </a:solidFill>
                <a:latin typeface="Calibri"/>
              </a:rPr>
              <a:t>IMPACT</a:t>
            </a:r>
          </a:p>
        </p:txBody>
      </p:sp>
      <p:sp>
        <p:nvSpPr>
          <p:cNvPr id="11" name="TextBox 10"/>
          <p:cNvSpPr txBox="1"/>
          <p:nvPr/>
        </p:nvSpPr>
        <p:spPr>
          <a:xfrm>
            <a:off x="6309360" y="2011680"/>
            <a:ext cx="534924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The cost of the old way.</a:t>
            </a:r>
          </a:p>
        </p:txBody>
      </p:sp>
      <p:sp>
        <p:nvSpPr>
          <p:cNvPr id="12" name="Rectangle 11"/>
          <p:cNvSpPr/>
          <p:nvPr/>
        </p:nvSpPr>
        <p:spPr>
          <a:xfrm>
            <a:off x="6309360" y="2743200"/>
            <a:ext cx="2606040" cy="169164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2743200"/>
            <a:ext cx="73152" cy="169164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_dataloss.png"/>
          <p:cNvPicPr>
            <a:picLocks noChangeAspect="1"/>
          </p:cNvPicPr>
          <p:nvPr/>
        </p:nvPicPr>
        <p:blipFill>
          <a:blip r:embed="rId2"/>
          <a:stretch>
            <a:fillRect/>
          </a:stretch>
        </p:blipFill>
        <p:spPr>
          <a:xfrm>
            <a:off x="6537960" y="2926080"/>
            <a:ext cx="502920" cy="502920"/>
          </a:xfrm>
          <a:prstGeom prst="rect">
            <a:avLst/>
          </a:prstGeom>
        </p:spPr>
      </p:pic>
      <p:sp>
        <p:nvSpPr>
          <p:cNvPr id="15" name="TextBox 14"/>
          <p:cNvSpPr txBox="1"/>
          <p:nvPr/>
        </p:nvSpPr>
        <p:spPr>
          <a:xfrm>
            <a:off x="7132320" y="2971800"/>
            <a:ext cx="1691640" cy="365760"/>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Data loss</a:t>
            </a:r>
          </a:p>
        </p:txBody>
      </p:sp>
      <p:sp>
        <p:nvSpPr>
          <p:cNvPr id="16" name="TextBox 15"/>
          <p:cNvSpPr txBox="1"/>
          <p:nvPr/>
        </p:nvSpPr>
        <p:spPr>
          <a:xfrm>
            <a:off x="6537960" y="3566160"/>
            <a:ext cx="2240280" cy="77724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Every network outage lost telemetry permanently.</a:t>
            </a:r>
          </a:p>
        </p:txBody>
      </p:sp>
      <p:sp>
        <p:nvSpPr>
          <p:cNvPr id="17" name="Rectangle 16"/>
          <p:cNvSpPr/>
          <p:nvPr/>
        </p:nvSpPr>
        <p:spPr>
          <a:xfrm>
            <a:off x="9052560" y="2743200"/>
            <a:ext cx="2606040" cy="169164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52560" y="2743200"/>
            <a:ext cx="73152" cy="1691640"/>
          </a:xfrm>
          <a:prstGeom prst="rect">
            <a:avLst/>
          </a:prstGeom>
          <a:solidFill>
            <a:srgbClr val="D48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_laptop.png"/>
          <p:cNvPicPr>
            <a:picLocks noChangeAspect="1"/>
          </p:cNvPicPr>
          <p:nvPr/>
        </p:nvPicPr>
        <p:blipFill>
          <a:blip r:embed="rId3"/>
          <a:stretch>
            <a:fillRect/>
          </a:stretch>
        </p:blipFill>
        <p:spPr>
          <a:xfrm>
            <a:off x="9281160" y="2926080"/>
            <a:ext cx="502920" cy="502920"/>
          </a:xfrm>
          <a:prstGeom prst="rect">
            <a:avLst/>
          </a:prstGeom>
        </p:spPr>
      </p:pic>
      <p:sp>
        <p:nvSpPr>
          <p:cNvPr id="20" name="TextBox 19"/>
          <p:cNvSpPr txBox="1"/>
          <p:nvPr/>
        </p:nvSpPr>
        <p:spPr>
          <a:xfrm>
            <a:off x="9875520" y="2971800"/>
            <a:ext cx="1691640" cy="365760"/>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Technical dependency</a:t>
            </a:r>
          </a:p>
        </p:txBody>
      </p:sp>
      <p:sp>
        <p:nvSpPr>
          <p:cNvPr id="21" name="TextBox 20"/>
          <p:cNvSpPr txBox="1"/>
          <p:nvPr/>
        </p:nvSpPr>
        <p:spPr>
          <a:xfrm>
            <a:off x="9281160" y="3566160"/>
            <a:ext cx="2240280" cy="77724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Every change required a developer and recompile.</a:t>
            </a:r>
          </a:p>
        </p:txBody>
      </p:sp>
      <p:sp>
        <p:nvSpPr>
          <p:cNvPr id="22" name="Rectangle 21"/>
          <p:cNvSpPr/>
          <p:nvPr/>
        </p:nvSpPr>
        <p:spPr>
          <a:xfrm>
            <a:off x="6309360" y="4572000"/>
            <a:ext cx="2606040" cy="169164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4572000"/>
            <a:ext cx="73152" cy="169164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p_truck.png"/>
          <p:cNvPicPr>
            <a:picLocks noChangeAspect="1"/>
          </p:cNvPicPr>
          <p:nvPr/>
        </p:nvPicPr>
        <p:blipFill>
          <a:blip r:embed="rId4"/>
          <a:stretch>
            <a:fillRect/>
          </a:stretch>
        </p:blipFill>
        <p:spPr>
          <a:xfrm>
            <a:off x="6537960" y="4754880"/>
            <a:ext cx="502920" cy="502920"/>
          </a:xfrm>
          <a:prstGeom prst="rect">
            <a:avLst/>
          </a:prstGeom>
        </p:spPr>
      </p:pic>
      <p:sp>
        <p:nvSpPr>
          <p:cNvPr id="25" name="TextBox 24"/>
          <p:cNvSpPr txBox="1"/>
          <p:nvPr/>
        </p:nvSpPr>
        <p:spPr>
          <a:xfrm>
            <a:off x="7132320" y="4800600"/>
            <a:ext cx="1691640" cy="365760"/>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Slow rollout</a:t>
            </a:r>
          </a:p>
        </p:txBody>
      </p:sp>
      <p:sp>
        <p:nvSpPr>
          <p:cNvPr id="26" name="TextBox 25"/>
          <p:cNvSpPr txBox="1"/>
          <p:nvPr/>
        </p:nvSpPr>
        <p:spPr>
          <a:xfrm>
            <a:off x="6537960" y="5394960"/>
            <a:ext cx="2240280" cy="77724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Each site needed code edits + manual reflash.</a:t>
            </a:r>
          </a:p>
        </p:txBody>
      </p:sp>
      <p:sp>
        <p:nvSpPr>
          <p:cNvPr id="27" name="Rectangle 26"/>
          <p:cNvSpPr/>
          <p:nvPr/>
        </p:nvSpPr>
        <p:spPr>
          <a:xfrm>
            <a:off x="9052560" y="4572000"/>
            <a:ext cx="2606040" cy="169164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4572000"/>
            <a:ext cx="73152" cy="1691640"/>
          </a:xfrm>
          <a:prstGeom prst="rect">
            <a:avLst/>
          </a:prstGeom>
          <a:solidFill>
            <a:srgbClr val="D48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p_eye.png"/>
          <p:cNvPicPr>
            <a:picLocks noChangeAspect="1"/>
          </p:cNvPicPr>
          <p:nvPr/>
        </p:nvPicPr>
        <p:blipFill>
          <a:blip r:embed="rId5"/>
          <a:stretch>
            <a:fillRect/>
          </a:stretch>
        </p:blipFill>
        <p:spPr>
          <a:xfrm>
            <a:off x="9281160" y="4754880"/>
            <a:ext cx="502920" cy="502920"/>
          </a:xfrm>
          <a:prstGeom prst="rect">
            <a:avLst/>
          </a:prstGeom>
        </p:spPr>
      </p:pic>
      <p:sp>
        <p:nvSpPr>
          <p:cNvPr id="30" name="TextBox 29"/>
          <p:cNvSpPr txBox="1"/>
          <p:nvPr/>
        </p:nvSpPr>
        <p:spPr>
          <a:xfrm>
            <a:off x="9875520" y="4800600"/>
            <a:ext cx="1691640" cy="365760"/>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Poor user experience</a:t>
            </a:r>
          </a:p>
        </p:txBody>
      </p:sp>
      <p:sp>
        <p:nvSpPr>
          <p:cNvPr id="31" name="TextBox 30"/>
          <p:cNvSpPr txBox="1"/>
          <p:nvPr/>
        </p:nvSpPr>
        <p:spPr>
          <a:xfrm>
            <a:off x="9281160" y="5394960"/>
            <a:ext cx="2240280" cy="77724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Non-technical users locked out of configuration.</a:t>
            </a:r>
          </a:p>
        </p:txBody>
      </p:sp>
      <p:sp>
        <p:nvSpPr>
          <p:cNvPr id="32" name="TextBox 31"/>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Previous Challenges</a:t>
            </a:r>
          </a:p>
        </p:txBody>
      </p:sp>
      <p:sp>
        <p:nvSpPr>
          <p:cNvPr id="33" name="TextBox 32"/>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2 of 10</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NEW SOLUTION IMPLEMENTED</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Four additions that transformed the device</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3640" y="1690920"/>
            <a:ext cx="5532120" cy="22402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45920"/>
            <a:ext cx="5532120" cy="2240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5532120"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ifi.png"/>
          <p:cNvPicPr>
            <a:picLocks noChangeAspect="1"/>
          </p:cNvPicPr>
          <p:nvPr/>
        </p:nvPicPr>
        <p:blipFill>
          <a:blip r:embed="rId2"/>
          <a:stretch>
            <a:fillRect/>
          </a:stretch>
        </p:blipFill>
        <p:spPr>
          <a:xfrm>
            <a:off x="822960" y="2011680"/>
            <a:ext cx="1234440" cy="1234440"/>
          </a:xfrm>
          <a:prstGeom prst="rect">
            <a:avLst/>
          </a:prstGeom>
        </p:spPr>
      </p:pic>
      <p:sp>
        <p:nvSpPr>
          <p:cNvPr id="10" name="TextBox 9"/>
          <p:cNvSpPr txBox="1"/>
          <p:nvPr/>
        </p:nvSpPr>
        <p:spPr>
          <a:xfrm>
            <a:off x="2240280" y="2011680"/>
            <a:ext cx="914400" cy="320040"/>
          </a:xfrm>
          <a:prstGeom prst="rect">
            <a:avLst/>
          </a:prstGeom>
          <a:noFill/>
        </p:spPr>
        <p:txBody>
          <a:bodyPr wrap="square" lIns="0" rIns="0" tIns="0" bIns="0" anchor="t">
            <a:spAutoFit/>
          </a:bodyPr>
          <a:lstStyle/>
          <a:p>
            <a:pPr algn="l">
              <a:lnSpc>
                <a:spcPct val="115000"/>
              </a:lnSpc>
            </a:pPr>
            <a:r>
              <a:rPr sz="1400" b="1">
                <a:solidFill>
                  <a:srgbClr val="00C2B8"/>
                </a:solidFill>
                <a:latin typeface="Calibri"/>
              </a:rPr>
              <a:t>01</a:t>
            </a:r>
          </a:p>
        </p:txBody>
      </p:sp>
      <p:sp>
        <p:nvSpPr>
          <p:cNvPr id="11" name="TextBox 10"/>
          <p:cNvSpPr txBox="1"/>
          <p:nvPr/>
        </p:nvSpPr>
        <p:spPr>
          <a:xfrm>
            <a:off x="2240280" y="2331720"/>
            <a:ext cx="3611880" cy="457200"/>
          </a:xfrm>
          <a:prstGeom prst="rect">
            <a:avLst/>
          </a:prstGeom>
          <a:noFill/>
        </p:spPr>
        <p:txBody>
          <a:bodyPr wrap="square" lIns="0" rIns="0" tIns="0" bIns="0" anchor="t">
            <a:spAutoFit/>
          </a:bodyPr>
          <a:lstStyle/>
          <a:p>
            <a:pPr algn="l">
              <a:lnSpc>
                <a:spcPct val="115000"/>
              </a:lnSpc>
            </a:pPr>
            <a:r>
              <a:rPr sz="2000" b="1">
                <a:solidFill>
                  <a:srgbClr val="0A2540"/>
                </a:solidFill>
                <a:latin typeface="Calibri"/>
              </a:rPr>
              <a:t>SIM Module</a:t>
            </a:r>
          </a:p>
        </p:txBody>
      </p:sp>
      <p:sp>
        <p:nvSpPr>
          <p:cNvPr id="12" name="TextBox 11"/>
          <p:cNvSpPr txBox="1"/>
          <p:nvPr/>
        </p:nvSpPr>
        <p:spPr>
          <a:xfrm>
            <a:off x="2240280" y="2788920"/>
            <a:ext cx="3611880" cy="960120"/>
          </a:xfrm>
          <a:prstGeom prst="rect">
            <a:avLst/>
          </a:prstGeom>
          <a:noFill/>
        </p:spPr>
        <p:txBody>
          <a:bodyPr wrap="square" lIns="0" rIns="0" tIns="0" bIns="0" anchor="t">
            <a:spAutoFit/>
          </a:bodyPr>
          <a:lstStyle/>
          <a:p>
            <a:pPr algn="l">
              <a:lnSpc>
                <a:spcPct val="140000"/>
              </a:lnSpc>
            </a:pPr>
            <a:r>
              <a:rPr sz="1150" b="0">
                <a:solidFill>
                  <a:srgbClr val="5B6472"/>
                </a:solidFill>
                <a:latin typeface="Calibri"/>
              </a:rPr>
              <a:t>Cellular connectivity — device now uses mobile SIM network directly, reducing WiFi dependency and improving uptime in remote or unstable areas.</a:t>
            </a:r>
          </a:p>
        </p:txBody>
      </p:sp>
      <p:sp>
        <p:nvSpPr>
          <p:cNvPr id="13" name="Rectangle 12"/>
          <p:cNvSpPr/>
          <p:nvPr/>
        </p:nvSpPr>
        <p:spPr>
          <a:xfrm>
            <a:off x="6262920" y="1690920"/>
            <a:ext cx="5532120" cy="22402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645920"/>
            <a:ext cx="5532120" cy="2240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645920"/>
            <a:ext cx="5532120"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dcard.png"/>
          <p:cNvPicPr>
            <a:picLocks noChangeAspect="1"/>
          </p:cNvPicPr>
          <p:nvPr/>
        </p:nvPicPr>
        <p:blipFill>
          <a:blip r:embed="rId3"/>
          <a:stretch>
            <a:fillRect/>
          </a:stretch>
        </p:blipFill>
        <p:spPr>
          <a:xfrm>
            <a:off x="6492240" y="2011680"/>
            <a:ext cx="1234440" cy="1234440"/>
          </a:xfrm>
          <a:prstGeom prst="rect">
            <a:avLst/>
          </a:prstGeom>
        </p:spPr>
      </p:pic>
      <p:sp>
        <p:nvSpPr>
          <p:cNvPr id="17" name="TextBox 16"/>
          <p:cNvSpPr txBox="1"/>
          <p:nvPr/>
        </p:nvSpPr>
        <p:spPr>
          <a:xfrm>
            <a:off x="7909560" y="2011680"/>
            <a:ext cx="914400" cy="320040"/>
          </a:xfrm>
          <a:prstGeom prst="rect">
            <a:avLst/>
          </a:prstGeom>
          <a:noFill/>
        </p:spPr>
        <p:txBody>
          <a:bodyPr wrap="square" lIns="0" rIns="0" tIns="0" bIns="0" anchor="t">
            <a:spAutoFit/>
          </a:bodyPr>
          <a:lstStyle/>
          <a:p>
            <a:pPr algn="l">
              <a:lnSpc>
                <a:spcPct val="115000"/>
              </a:lnSpc>
            </a:pPr>
            <a:r>
              <a:rPr sz="1400" b="1">
                <a:solidFill>
                  <a:srgbClr val="00C2B8"/>
                </a:solidFill>
                <a:latin typeface="Calibri"/>
              </a:rPr>
              <a:t>02</a:t>
            </a:r>
          </a:p>
        </p:txBody>
      </p:sp>
      <p:sp>
        <p:nvSpPr>
          <p:cNvPr id="18" name="TextBox 17"/>
          <p:cNvSpPr txBox="1"/>
          <p:nvPr/>
        </p:nvSpPr>
        <p:spPr>
          <a:xfrm>
            <a:off x="7909560" y="2331720"/>
            <a:ext cx="3611880" cy="457200"/>
          </a:xfrm>
          <a:prstGeom prst="rect">
            <a:avLst/>
          </a:prstGeom>
          <a:noFill/>
        </p:spPr>
        <p:txBody>
          <a:bodyPr wrap="square" lIns="0" rIns="0" tIns="0" bIns="0" anchor="t">
            <a:spAutoFit/>
          </a:bodyPr>
          <a:lstStyle/>
          <a:p>
            <a:pPr algn="l">
              <a:lnSpc>
                <a:spcPct val="115000"/>
              </a:lnSpc>
            </a:pPr>
            <a:r>
              <a:rPr sz="2000" b="1">
                <a:solidFill>
                  <a:srgbClr val="0A2540"/>
                </a:solidFill>
                <a:latin typeface="Calibri"/>
              </a:rPr>
              <a:t>SD Card Backup</a:t>
            </a:r>
          </a:p>
        </p:txBody>
      </p:sp>
      <p:sp>
        <p:nvSpPr>
          <p:cNvPr id="19" name="TextBox 18"/>
          <p:cNvSpPr txBox="1"/>
          <p:nvPr/>
        </p:nvSpPr>
        <p:spPr>
          <a:xfrm>
            <a:off x="7909560" y="2788920"/>
            <a:ext cx="3611880" cy="960120"/>
          </a:xfrm>
          <a:prstGeom prst="rect">
            <a:avLst/>
          </a:prstGeom>
          <a:noFill/>
        </p:spPr>
        <p:txBody>
          <a:bodyPr wrap="square" lIns="0" rIns="0" tIns="0" bIns="0" anchor="t">
            <a:spAutoFit/>
          </a:bodyPr>
          <a:lstStyle/>
          <a:p>
            <a:pPr algn="l">
              <a:lnSpc>
                <a:spcPct val="140000"/>
              </a:lnSpc>
            </a:pPr>
            <a:r>
              <a:rPr sz="1150" b="0">
                <a:solidFill>
                  <a:srgbClr val="5B6472"/>
                </a:solidFill>
                <a:latin typeface="Calibri"/>
              </a:rPr>
              <a:t>Automatic offline storage — when network drops, SD card activates and stores every data ping locally. Zero data loss during outages.</a:t>
            </a:r>
          </a:p>
        </p:txBody>
      </p:sp>
      <p:sp>
        <p:nvSpPr>
          <p:cNvPr id="20" name="Rectangle 19"/>
          <p:cNvSpPr/>
          <p:nvPr/>
        </p:nvSpPr>
        <p:spPr>
          <a:xfrm>
            <a:off x="593640" y="4068360"/>
            <a:ext cx="5532120" cy="22402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23360"/>
            <a:ext cx="5532120" cy="2240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023360"/>
            <a:ext cx="5532120"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efresh.png"/>
          <p:cNvPicPr>
            <a:picLocks noChangeAspect="1"/>
          </p:cNvPicPr>
          <p:nvPr/>
        </p:nvPicPr>
        <p:blipFill>
          <a:blip r:embed="rId4"/>
          <a:stretch>
            <a:fillRect/>
          </a:stretch>
        </p:blipFill>
        <p:spPr>
          <a:xfrm>
            <a:off x="822960" y="4389120"/>
            <a:ext cx="1234440" cy="1234440"/>
          </a:xfrm>
          <a:prstGeom prst="rect">
            <a:avLst/>
          </a:prstGeom>
        </p:spPr>
      </p:pic>
      <p:sp>
        <p:nvSpPr>
          <p:cNvPr id="24" name="TextBox 23"/>
          <p:cNvSpPr txBox="1"/>
          <p:nvPr/>
        </p:nvSpPr>
        <p:spPr>
          <a:xfrm>
            <a:off x="2240280" y="4389120"/>
            <a:ext cx="914400" cy="320040"/>
          </a:xfrm>
          <a:prstGeom prst="rect">
            <a:avLst/>
          </a:prstGeom>
          <a:noFill/>
        </p:spPr>
        <p:txBody>
          <a:bodyPr wrap="square" lIns="0" rIns="0" tIns="0" bIns="0" anchor="t">
            <a:spAutoFit/>
          </a:bodyPr>
          <a:lstStyle/>
          <a:p>
            <a:pPr algn="l">
              <a:lnSpc>
                <a:spcPct val="115000"/>
              </a:lnSpc>
            </a:pPr>
            <a:r>
              <a:rPr sz="1400" b="1">
                <a:solidFill>
                  <a:srgbClr val="F4A261"/>
                </a:solidFill>
                <a:latin typeface="Calibri"/>
              </a:rPr>
              <a:t>03</a:t>
            </a:r>
          </a:p>
        </p:txBody>
      </p:sp>
      <p:sp>
        <p:nvSpPr>
          <p:cNvPr id="25" name="TextBox 24"/>
          <p:cNvSpPr txBox="1"/>
          <p:nvPr/>
        </p:nvSpPr>
        <p:spPr>
          <a:xfrm>
            <a:off x="2240280" y="4709160"/>
            <a:ext cx="3611880" cy="457200"/>
          </a:xfrm>
          <a:prstGeom prst="rect">
            <a:avLst/>
          </a:prstGeom>
          <a:noFill/>
        </p:spPr>
        <p:txBody>
          <a:bodyPr wrap="square" lIns="0" rIns="0" tIns="0" bIns="0" anchor="t">
            <a:spAutoFit/>
          </a:bodyPr>
          <a:lstStyle/>
          <a:p>
            <a:pPr algn="l">
              <a:lnSpc>
                <a:spcPct val="115000"/>
              </a:lnSpc>
            </a:pPr>
            <a:r>
              <a:rPr sz="2000" b="1">
                <a:solidFill>
                  <a:srgbClr val="0A2540"/>
                </a:solidFill>
                <a:latin typeface="Calibri"/>
              </a:rPr>
              <a:t>RTC Module</a:t>
            </a:r>
          </a:p>
        </p:txBody>
      </p:sp>
      <p:sp>
        <p:nvSpPr>
          <p:cNvPr id="26" name="TextBox 25"/>
          <p:cNvSpPr txBox="1"/>
          <p:nvPr/>
        </p:nvSpPr>
        <p:spPr>
          <a:xfrm>
            <a:off x="2240280" y="5166360"/>
            <a:ext cx="3611880" cy="960120"/>
          </a:xfrm>
          <a:prstGeom prst="rect">
            <a:avLst/>
          </a:prstGeom>
          <a:noFill/>
        </p:spPr>
        <p:txBody>
          <a:bodyPr wrap="square" lIns="0" rIns="0" tIns="0" bIns="0" anchor="t">
            <a:spAutoFit/>
          </a:bodyPr>
          <a:lstStyle/>
          <a:p>
            <a:pPr algn="l">
              <a:lnSpc>
                <a:spcPct val="140000"/>
              </a:lnSpc>
            </a:pPr>
            <a:r>
              <a:rPr sz="1150" b="0">
                <a:solidFill>
                  <a:srgbClr val="5B6472"/>
                </a:solidFill>
                <a:latin typeface="Calibri"/>
              </a:rPr>
              <a:t>Real-Time Clock — provides accurate date and time continuously, so every stored ping gets an exact timestamp. Reliable historical records.</a:t>
            </a:r>
          </a:p>
        </p:txBody>
      </p:sp>
      <p:sp>
        <p:nvSpPr>
          <p:cNvPr id="27" name="Rectangle 26"/>
          <p:cNvSpPr/>
          <p:nvPr/>
        </p:nvSpPr>
        <p:spPr>
          <a:xfrm>
            <a:off x="6262920" y="4068360"/>
            <a:ext cx="5532120" cy="22402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4023360"/>
            <a:ext cx="5532120" cy="2240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4023360"/>
            <a:ext cx="5532120"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globe.png"/>
          <p:cNvPicPr>
            <a:picLocks noChangeAspect="1"/>
          </p:cNvPicPr>
          <p:nvPr/>
        </p:nvPicPr>
        <p:blipFill>
          <a:blip r:embed="rId5"/>
          <a:stretch>
            <a:fillRect/>
          </a:stretch>
        </p:blipFill>
        <p:spPr>
          <a:xfrm>
            <a:off x="6492240" y="4389120"/>
            <a:ext cx="1234440" cy="1234440"/>
          </a:xfrm>
          <a:prstGeom prst="rect">
            <a:avLst/>
          </a:prstGeom>
        </p:spPr>
      </p:pic>
      <p:sp>
        <p:nvSpPr>
          <p:cNvPr id="31" name="TextBox 30"/>
          <p:cNvSpPr txBox="1"/>
          <p:nvPr/>
        </p:nvSpPr>
        <p:spPr>
          <a:xfrm>
            <a:off x="7909560" y="4389120"/>
            <a:ext cx="914400" cy="320040"/>
          </a:xfrm>
          <a:prstGeom prst="rect">
            <a:avLst/>
          </a:prstGeom>
          <a:noFill/>
        </p:spPr>
        <p:txBody>
          <a:bodyPr wrap="square" lIns="0" rIns="0" tIns="0" bIns="0" anchor="t">
            <a:spAutoFit/>
          </a:bodyPr>
          <a:lstStyle/>
          <a:p>
            <a:pPr algn="l">
              <a:lnSpc>
                <a:spcPct val="115000"/>
              </a:lnSpc>
            </a:pPr>
            <a:r>
              <a:rPr sz="1400" b="1">
                <a:solidFill>
                  <a:srgbClr val="F4A261"/>
                </a:solidFill>
                <a:latin typeface="Calibri"/>
              </a:rPr>
              <a:t>04</a:t>
            </a:r>
          </a:p>
        </p:txBody>
      </p:sp>
      <p:sp>
        <p:nvSpPr>
          <p:cNvPr id="32" name="TextBox 31"/>
          <p:cNvSpPr txBox="1"/>
          <p:nvPr/>
        </p:nvSpPr>
        <p:spPr>
          <a:xfrm>
            <a:off x="7909560" y="4709160"/>
            <a:ext cx="3611880" cy="457200"/>
          </a:xfrm>
          <a:prstGeom prst="rect">
            <a:avLst/>
          </a:prstGeom>
          <a:noFill/>
        </p:spPr>
        <p:txBody>
          <a:bodyPr wrap="square" lIns="0" rIns="0" tIns="0" bIns="0" anchor="t">
            <a:spAutoFit/>
          </a:bodyPr>
          <a:lstStyle/>
          <a:p>
            <a:pPr algn="l">
              <a:lnSpc>
                <a:spcPct val="115000"/>
              </a:lnSpc>
            </a:pPr>
            <a:r>
              <a:rPr sz="2000" b="1">
                <a:solidFill>
                  <a:srgbClr val="0A2540"/>
                </a:solidFill>
                <a:latin typeface="Calibri"/>
              </a:rPr>
              <a:t>Web Server</a:t>
            </a:r>
          </a:p>
        </p:txBody>
      </p:sp>
      <p:sp>
        <p:nvSpPr>
          <p:cNvPr id="33" name="TextBox 32"/>
          <p:cNvSpPr txBox="1"/>
          <p:nvPr/>
        </p:nvSpPr>
        <p:spPr>
          <a:xfrm>
            <a:off x="7909560" y="5166360"/>
            <a:ext cx="3611880" cy="960120"/>
          </a:xfrm>
          <a:prstGeom prst="rect">
            <a:avLst/>
          </a:prstGeom>
          <a:noFill/>
        </p:spPr>
        <p:txBody>
          <a:bodyPr wrap="square" lIns="0" rIns="0" tIns="0" bIns="0" anchor="t">
            <a:spAutoFit/>
          </a:bodyPr>
          <a:lstStyle/>
          <a:p>
            <a:pPr algn="l">
              <a:lnSpc>
                <a:spcPct val="140000"/>
              </a:lnSpc>
            </a:pPr>
            <a:r>
              <a:rPr sz="1150" b="0">
                <a:solidFill>
                  <a:srgbClr val="5B6472"/>
                </a:solidFill>
                <a:latin typeface="Calibri"/>
              </a:rPr>
              <a:t>Browser-based configuration portal — configure device settings from any browser. No Arduino editing, no firmware reflash, no developer needed.</a:t>
            </a:r>
          </a:p>
        </p:txBody>
      </p:sp>
      <p:sp>
        <p:nvSpPr>
          <p:cNvPr id="34" name="TextBox 33"/>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Solution Overview</a:t>
            </a:r>
          </a:p>
        </p:txBody>
      </p:sp>
      <p:sp>
        <p:nvSpPr>
          <p:cNvPr id="35" name="TextBox 34"/>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3 of 10</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FEATURE 01  ·  SIM MODULE</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Cellular connectivity for unstable WiFi locations</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828800"/>
            <a:ext cx="3657600" cy="3657600"/>
          </a:xfrm>
          <a:prstGeom prst="roundRect">
            <a:avLst>
              <a:gd name="adj" fmla="val 18000"/>
            </a:avLst>
          </a:prstGeom>
          <a:solidFill>
            <a:srgbClr val="EB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ifi.png"/>
          <p:cNvPicPr>
            <a:picLocks noChangeAspect="1"/>
          </p:cNvPicPr>
          <p:nvPr/>
        </p:nvPicPr>
        <p:blipFill>
          <a:blip r:embed="rId2"/>
          <a:stretch>
            <a:fillRect/>
          </a:stretch>
        </p:blipFill>
        <p:spPr>
          <a:xfrm>
            <a:off x="1280160" y="2286000"/>
            <a:ext cx="2743200" cy="2743200"/>
          </a:xfrm>
          <a:prstGeom prst="rect">
            <a:avLst/>
          </a:prstGeom>
        </p:spPr>
      </p:pic>
      <p:sp>
        <p:nvSpPr>
          <p:cNvPr id="8" name="TextBox 7"/>
          <p:cNvSpPr txBox="1"/>
          <p:nvPr/>
        </p:nvSpPr>
        <p:spPr>
          <a:xfrm>
            <a:off x="822960" y="5715000"/>
            <a:ext cx="3657600" cy="365760"/>
          </a:xfrm>
          <a:prstGeom prst="rect">
            <a:avLst/>
          </a:prstGeom>
          <a:noFill/>
        </p:spPr>
        <p:txBody>
          <a:bodyPr wrap="square" lIns="0" rIns="0" tIns="0" bIns="0" anchor="t">
            <a:spAutoFit/>
          </a:bodyPr>
          <a:lstStyle/>
          <a:p>
            <a:pPr algn="ctr">
              <a:lnSpc>
                <a:spcPct val="115000"/>
              </a:lnSpc>
            </a:pPr>
            <a:r>
              <a:rPr sz="1600" b="1">
                <a:solidFill>
                  <a:srgbClr val="0A2540"/>
                </a:solidFill>
                <a:latin typeface="Calibri"/>
              </a:rPr>
              <a:t>Mobile SIM Network</a:t>
            </a:r>
          </a:p>
        </p:txBody>
      </p:sp>
      <p:sp>
        <p:nvSpPr>
          <p:cNvPr id="9" name="TextBox 8"/>
          <p:cNvSpPr txBox="1"/>
          <p:nvPr/>
        </p:nvSpPr>
        <p:spPr>
          <a:xfrm>
            <a:off x="822960" y="6080760"/>
            <a:ext cx="3657600" cy="274320"/>
          </a:xfrm>
          <a:prstGeom prst="rect">
            <a:avLst/>
          </a:prstGeom>
          <a:noFill/>
        </p:spPr>
        <p:txBody>
          <a:bodyPr wrap="square" lIns="0" rIns="0" tIns="0" bIns="0" anchor="t">
            <a:spAutoFit/>
          </a:bodyPr>
          <a:lstStyle/>
          <a:p>
            <a:pPr algn="ctr">
              <a:lnSpc>
                <a:spcPct val="115000"/>
              </a:lnSpc>
            </a:pPr>
            <a:r>
              <a:rPr sz="1100" b="0">
                <a:solidFill>
                  <a:srgbClr val="5B6472"/>
                </a:solidFill>
                <a:latin typeface="Calibri"/>
              </a:rPr>
              <a:t>Cellular (A7670C 4G LTE)</a:t>
            </a:r>
          </a:p>
        </p:txBody>
      </p:sp>
      <p:sp>
        <p:nvSpPr>
          <p:cNvPr id="10" name="TextBox 9"/>
          <p:cNvSpPr txBox="1"/>
          <p:nvPr/>
        </p:nvSpPr>
        <p:spPr>
          <a:xfrm>
            <a:off x="4937760" y="1645920"/>
            <a:ext cx="6766560" cy="365760"/>
          </a:xfrm>
          <a:prstGeom prst="rect">
            <a:avLst/>
          </a:prstGeom>
          <a:noFill/>
        </p:spPr>
        <p:txBody>
          <a:bodyPr wrap="square" lIns="0" rIns="0" tIns="0" bIns="0" anchor="t">
            <a:spAutoFit/>
          </a:bodyPr>
          <a:lstStyle/>
          <a:p>
            <a:pPr algn="l">
              <a:lnSpc>
                <a:spcPct val="115000"/>
              </a:lnSpc>
            </a:pPr>
            <a:r>
              <a:rPr sz="1100" b="1">
                <a:solidFill>
                  <a:srgbClr val="008C85"/>
                </a:solidFill>
                <a:latin typeface="Calibri"/>
              </a:rPr>
              <a:t>BENEFITS</a:t>
            </a:r>
          </a:p>
        </p:txBody>
      </p:sp>
      <p:sp>
        <p:nvSpPr>
          <p:cNvPr id="11" name="TextBox 10"/>
          <p:cNvSpPr txBox="1"/>
          <p:nvPr/>
        </p:nvSpPr>
        <p:spPr>
          <a:xfrm>
            <a:off x="4937760" y="1965960"/>
            <a:ext cx="676656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What the SIM Module delivers.</a:t>
            </a:r>
          </a:p>
        </p:txBody>
      </p:sp>
      <p:sp>
        <p:nvSpPr>
          <p:cNvPr id="12" name="Rectangle 11"/>
          <p:cNvSpPr/>
          <p:nvPr/>
        </p:nvSpPr>
        <p:spPr>
          <a:xfrm>
            <a:off x="4937760" y="27889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26974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Mobile SIM network, directly.</a:t>
            </a:r>
          </a:p>
        </p:txBody>
      </p:sp>
      <p:sp>
        <p:nvSpPr>
          <p:cNvPr id="14" name="TextBox 13"/>
          <p:cNvSpPr txBox="1"/>
          <p:nvPr/>
        </p:nvSpPr>
        <p:spPr>
          <a:xfrm>
            <a:off x="5212080" y="29900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Device can now connect through a cellular SIM — no longer dependent on WiFi.</a:t>
            </a:r>
          </a:p>
        </p:txBody>
      </p:sp>
      <p:sp>
        <p:nvSpPr>
          <p:cNvPr id="15" name="Rectangle 14"/>
          <p:cNvSpPr/>
          <p:nvPr/>
        </p:nvSpPr>
        <p:spPr>
          <a:xfrm>
            <a:off x="4937760" y="34747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33832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Reduced WiFi dependency.</a:t>
            </a:r>
          </a:p>
        </p:txBody>
      </p:sp>
      <p:sp>
        <p:nvSpPr>
          <p:cNvPr id="17" name="TextBox 16"/>
          <p:cNvSpPr txBox="1"/>
          <p:nvPr/>
        </p:nvSpPr>
        <p:spPr>
          <a:xfrm>
            <a:off x="5212080" y="36758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Even if local WiFi fails, the device stays connected over the mobile network.</a:t>
            </a:r>
          </a:p>
        </p:txBody>
      </p:sp>
      <p:sp>
        <p:nvSpPr>
          <p:cNvPr id="18" name="Rectangle 17"/>
          <p:cNvSpPr/>
          <p:nvPr/>
        </p:nvSpPr>
        <p:spPr>
          <a:xfrm>
            <a:off x="4937760" y="41605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40690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Works in remote or unstable areas.</a:t>
            </a:r>
          </a:p>
        </p:txBody>
      </p:sp>
      <p:sp>
        <p:nvSpPr>
          <p:cNvPr id="20" name="TextBox 19"/>
          <p:cNvSpPr txBox="1"/>
          <p:nvPr/>
        </p:nvSpPr>
        <p:spPr>
          <a:xfrm>
            <a:off x="5212080" y="43616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Sites with weak or no WiFi now have a reliable connectivity path.</a:t>
            </a:r>
          </a:p>
        </p:txBody>
      </p:sp>
      <p:sp>
        <p:nvSpPr>
          <p:cNvPr id="21" name="Rectangle 20"/>
          <p:cNvSpPr/>
          <p:nvPr/>
        </p:nvSpPr>
        <p:spPr>
          <a:xfrm>
            <a:off x="4937760" y="48463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47548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Fewer transmission failures.</a:t>
            </a:r>
          </a:p>
        </p:txBody>
      </p:sp>
      <p:sp>
        <p:nvSpPr>
          <p:cNvPr id="23" name="TextBox 22"/>
          <p:cNvSpPr txBox="1"/>
          <p:nvPr/>
        </p:nvSpPr>
        <p:spPr>
          <a:xfrm>
            <a:off x="5212080" y="50474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Telemetry reaches the cloud even when the primary network is degraded.</a:t>
            </a:r>
          </a:p>
        </p:txBody>
      </p:sp>
      <p:sp>
        <p:nvSpPr>
          <p:cNvPr id="24" name="Rectangle 23"/>
          <p:cNvSpPr/>
          <p:nvPr/>
        </p:nvSpPr>
        <p:spPr>
          <a:xfrm>
            <a:off x="4937760" y="55321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0" y="54406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Higher uptime and reliability.</a:t>
            </a:r>
          </a:p>
        </p:txBody>
      </p:sp>
      <p:sp>
        <p:nvSpPr>
          <p:cNvPr id="26" name="TextBox 25"/>
          <p:cNvSpPr txBox="1"/>
          <p:nvPr/>
        </p:nvSpPr>
        <p:spPr>
          <a:xfrm>
            <a:off x="5212080" y="57332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Overall device availability improves across all deployment conditions.</a:t>
            </a:r>
          </a:p>
        </p:txBody>
      </p:sp>
      <p:sp>
        <p:nvSpPr>
          <p:cNvPr id="27" name="TextBox 26"/>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SIM Module</a:t>
            </a:r>
          </a:p>
        </p:txBody>
      </p:sp>
      <p:sp>
        <p:nvSpPr>
          <p:cNvPr id="28" name="TextBox 27"/>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4 of 10</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FEATURE 02  ·  SD CARD BACKUP</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Automatic offline storage during network outages</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828800"/>
            <a:ext cx="3657600" cy="3657600"/>
          </a:xfrm>
          <a:prstGeom prst="roundRect">
            <a:avLst>
              <a:gd name="adj" fmla="val 18000"/>
            </a:avLst>
          </a:prstGeom>
          <a:solidFill>
            <a:srgbClr val="EB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dcard.png"/>
          <p:cNvPicPr>
            <a:picLocks noChangeAspect="1"/>
          </p:cNvPicPr>
          <p:nvPr/>
        </p:nvPicPr>
        <p:blipFill>
          <a:blip r:embed="rId2"/>
          <a:stretch>
            <a:fillRect/>
          </a:stretch>
        </p:blipFill>
        <p:spPr>
          <a:xfrm>
            <a:off x="1280160" y="2286000"/>
            <a:ext cx="2743200" cy="2743200"/>
          </a:xfrm>
          <a:prstGeom prst="rect">
            <a:avLst/>
          </a:prstGeom>
        </p:spPr>
      </p:pic>
      <p:sp>
        <p:nvSpPr>
          <p:cNvPr id="8" name="TextBox 7"/>
          <p:cNvSpPr txBox="1"/>
          <p:nvPr/>
        </p:nvSpPr>
        <p:spPr>
          <a:xfrm>
            <a:off x="822960" y="5715000"/>
            <a:ext cx="3657600" cy="365760"/>
          </a:xfrm>
          <a:prstGeom prst="rect">
            <a:avLst/>
          </a:prstGeom>
          <a:noFill/>
        </p:spPr>
        <p:txBody>
          <a:bodyPr wrap="square" lIns="0" rIns="0" tIns="0" bIns="0" anchor="t">
            <a:spAutoFit/>
          </a:bodyPr>
          <a:lstStyle/>
          <a:p>
            <a:pPr algn="ctr">
              <a:lnSpc>
                <a:spcPct val="115000"/>
              </a:lnSpc>
            </a:pPr>
            <a:r>
              <a:rPr sz="1600" b="1">
                <a:solidFill>
                  <a:srgbClr val="0A2540"/>
                </a:solidFill>
                <a:latin typeface="Calibri"/>
              </a:rPr>
              <a:t>Local Offline Storage</a:t>
            </a:r>
          </a:p>
        </p:txBody>
      </p:sp>
      <p:sp>
        <p:nvSpPr>
          <p:cNvPr id="9" name="TextBox 8"/>
          <p:cNvSpPr txBox="1"/>
          <p:nvPr/>
        </p:nvSpPr>
        <p:spPr>
          <a:xfrm>
            <a:off x="822960" y="6080760"/>
            <a:ext cx="3657600" cy="274320"/>
          </a:xfrm>
          <a:prstGeom prst="rect">
            <a:avLst/>
          </a:prstGeom>
          <a:noFill/>
        </p:spPr>
        <p:txBody>
          <a:bodyPr wrap="square" lIns="0" rIns="0" tIns="0" bIns="0" anchor="t">
            <a:spAutoFit/>
          </a:bodyPr>
          <a:lstStyle/>
          <a:p>
            <a:pPr algn="ctr">
              <a:lnSpc>
                <a:spcPct val="115000"/>
              </a:lnSpc>
            </a:pPr>
            <a:r>
              <a:rPr sz="1100" b="0">
                <a:solidFill>
                  <a:srgbClr val="5B6472"/>
                </a:solidFill>
                <a:latin typeface="Calibri"/>
              </a:rPr>
              <a:t>FAT32  ·  Chronological replay</a:t>
            </a:r>
          </a:p>
        </p:txBody>
      </p:sp>
      <p:sp>
        <p:nvSpPr>
          <p:cNvPr id="10" name="TextBox 9"/>
          <p:cNvSpPr txBox="1"/>
          <p:nvPr/>
        </p:nvSpPr>
        <p:spPr>
          <a:xfrm>
            <a:off x="4937760" y="1645920"/>
            <a:ext cx="6766560" cy="365760"/>
          </a:xfrm>
          <a:prstGeom prst="rect">
            <a:avLst/>
          </a:prstGeom>
          <a:noFill/>
        </p:spPr>
        <p:txBody>
          <a:bodyPr wrap="square" lIns="0" rIns="0" tIns="0" bIns="0" anchor="t">
            <a:spAutoFit/>
          </a:bodyPr>
          <a:lstStyle/>
          <a:p>
            <a:pPr algn="l">
              <a:lnSpc>
                <a:spcPct val="115000"/>
              </a:lnSpc>
            </a:pPr>
            <a:r>
              <a:rPr sz="1100" b="1">
                <a:solidFill>
                  <a:srgbClr val="008C85"/>
                </a:solidFill>
                <a:latin typeface="Calibri"/>
              </a:rPr>
              <a:t>HOW IT WORKS</a:t>
            </a:r>
          </a:p>
        </p:txBody>
      </p:sp>
      <p:sp>
        <p:nvSpPr>
          <p:cNvPr id="11" name="TextBox 10"/>
          <p:cNvSpPr txBox="1"/>
          <p:nvPr/>
        </p:nvSpPr>
        <p:spPr>
          <a:xfrm>
            <a:off x="4937760" y="1965960"/>
            <a:ext cx="676656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Zero data loss during outages.</a:t>
            </a:r>
          </a:p>
        </p:txBody>
      </p:sp>
      <p:sp>
        <p:nvSpPr>
          <p:cNvPr id="12" name="Rectangle 11"/>
          <p:cNvSpPr/>
          <p:nvPr/>
        </p:nvSpPr>
        <p:spPr>
          <a:xfrm>
            <a:off x="4937760" y="27889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26974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Activates automatically.</a:t>
            </a:r>
          </a:p>
        </p:txBody>
      </p:sp>
      <p:sp>
        <p:nvSpPr>
          <p:cNvPr id="14" name="TextBox 13"/>
          <p:cNvSpPr txBox="1"/>
          <p:nvPr/>
        </p:nvSpPr>
        <p:spPr>
          <a:xfrm>
            <a:off x="5212080" y="29900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When the internet or network goes down, SD backup kicks in without any manual step.</a:t>
            </a:r>
          </a:p>
        </p:txBody>
      </p:sp>
      <p:sp>
        <p:nvSpPr>
          <p:cNvPr id="15" name="Rectangle 14"/>
          <p:cNvSpPr/>
          <p:nvPr/>
        </p:nvSpPr>
        <p:spPr>
          <a:xfrm>
            <a:off x="4937760" y="34747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33832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Stores every data ping locally.</a:t>
            </a:r>
          </a:p>
        </p:txBody>
      </p:sp>
      <p:sp>
        <p:nvSpPr>
          <p:cNvPr id="17" name="TextBox 16"/>
          <p:cNvSpPr txBox="1"/>
          <p:nvPr/>
        </p:nvSpPr>
        <p:spPr>
          <a:xfrm>
            <a:off x="5212080" y="36758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Every reading is written to the SD card with its timestamp, safely preserved.</a:t>
            </a:r>
          </a:p>
        </p:txBody>
      </p:sp>
      <p:sp>
        <p:nvSpPr>
          <p:cNvPr id="18" name="Rectangle 17"/>
          <p:cNvSpPr/>
          <p:nvPr/>
        </p:nvSpPr>
        <p:spPr>
          <a:xfrm>
            <a:off x="4937760" y="41605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40690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Prevents data loss during outages.</a:t>
            </a:r>
          </a:p>
        </p:txBody>
      </p:sp>
      <p:sp>
        <p:nvSpPr>
          <p:cNvPr id="20" name="TextBox 19"/>
          <p:cNvSpPr txBox="1"/>
          <p:nvPr/>
        </p:nvSpPr>
        <p:spPr>
          <a:xfrm>
            <a:off x="5212080" y="43616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No matter how long the network is down, nothing is dropped.</a:t>
            </a:r>
          </a:p>
        </p:txBody>
      </p:sp>
      <p:sp>
        <p:nvSpPr>
          <p:cNvPr id="21" name="Rectangle 20"/>
          <p:cNvSpPr/>
          <p:nvPr/>
        </p:nvSpPr>
        <p:spPr>
          <a:xfrm>
            <a:off x="4937760" y="48463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47548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Chronological replay on recovery.</a:t>
            </a:r>
          </a:p>
        </p:txBody>
      </p:sp>
      <p:sp>
        <p:nvSpPr>
          <p:cNvPr id="23" name="TextBox 22"/>
          <p:cNvSpPr txBox="1"/>
          <p:nvPr/>
        </p:nvSpPr>
        <p:spPr>
          <a:xfrm>
            <a:off x="5212080" y="50474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When the network returns, cached data is sent to the cloud in the correct order.</a:t>
            </a:r>
          </a:p>
        </p:txBody>
      </p:sp>
      <p:sp>
        <p:nvSpPr>
          <p:cNvPr id="24" name="Rounded Rectangle 23"/>
          <p:cNvSpPr/>
          <p:nvPr/>
        </p:nvSpPr>
        <p:spPr>
          <a:xfrm>
            <a:off x="548640" y="5806440"/>
            <a:ext cx="11109960" cy="502920"/>
          </a:xfrm>
          <a:prstGeom prst="roundRect">
            <a:avLst>
              <a:gd name="adj" fmla="val 3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852160"/>
            <a:ext cx="10652760" cy="228600"/>
          </a:xfrm>
          <a:prstGeom prst="rect">
            <a:avLst/>
          </a:prstGeom>
          <a:noFill/>
        </p:spPr>
        <p:txBody>
          <a:bodyPr wrap="square" lIns="0" rIns="0" tIns="0" bIns="0" anchor="t">
            <a:spAutoFit/>
          </a:bodyPr>
          <a:lstStyle/>
          <a:p>
            <a:pPr algn="l">
              <a:lnSpc>
                <a:spcPct val="115000"/>
              </a:lnSpc>
            </a:pPr>
            <a:r>
              <a:rPr sz="900" b="1">
                <a:solidFill>
                  <a:srgbClr val="00C2B8"/>
                </a:solidFill>
                <a:latin typeface="Calibri"/>
              </a:rPr>
              <a:t>OFFLINE FLOW</a:t>
            </a:r>
          </a:p>
        </p:txBody>
      </p:sp>
      <p:sp>
        <p:nvSpPr>
          <p:cNvPr id="26" name="TextBox 25"/>
          <p:cNvSpPr txBox="1"/>
          <p:nvPr/>
        </p:nvSpPr>
        <p:spPr>
          <a:xfrm>
            <a:off x="777240" y="6035040"/>
            <a:ext cx="1065276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a:rPr>
              <a:t>Network drop   →   SD backup activates   →   Every ping stored locally   →   Network back   →   Chronological replay to cloud</a:t>
            </a:r>
          </a:p>
        </p:txBody>
      </p:sp>
      <p:sp>
        <p:nvSpPr>
          <p:cNvPr id="27" name="TextBox 26"/>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SD Card Backup</a:t>
            </a:r>
          </a:p>
        </p:txBody>
      </p:sp>
      <p:sp>
        <p:nvSpPr>
          <p:cNvPr id="28" name="TextBox 27"/>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5 of 10</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FEATURE 03  ·  RTC MODULE</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Real-Time Clock for accurate timestamps</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828800"/>
            <a:ext cx="3657600" cy="3657600"/>
          </a:xfrm>
          <a:prstGeom prst="roundRect">
            <a:avLst>
              <a:gd name="adj" fmla="val 18000"/>
            </a:avLst>
          </a:prstGeom>
          <a:solidFill>
            <a:srgbClr val="FD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fresh.png"/>
          <p:cNvPicPr>
            <a:picLocks noChangeAspect="1"/>
          </p:cNvPicPr>
          <p:nvPr/>
        </p:nvPicPr>
        <p:blipFill>
          <a:blip r:embed="rId2"/>
          <a:stretch>
            <a:fillRect/>
          </a:stretch>
        </p:blipFill>
        <p:spPr>
          <a:xfrm>
            <a:off x="1280160" y="2286000"/>
            <a:ext cx="2743200" cy="2743200"/>
          </a:xfrm>
          <a:prstGeom prst="rect">
            <a:avLst/>
          </a:prstGeom>
        </p:spPr>
      </p:pic>
      <p:sp>
        <p:nvSpPr>
          <p:cNvPr id="8" name="TextBox 7"/>
          <p:cNvSpPr txBox="1"/>
          <p:nvPr/>
        </p:nvSpPr>
        <p:spPr>
          <a:xfrm>
            <a:off x="822960" y="5715000"/>
            <a:ext cx="3657600" cy="365760"/>
          </a:xfrm>
          <a:prstGeom prst="rect">
            <a:avLst/>
          </a:prstGeom>
          <a:noFill/>
        </p:spPr>
        <p:txBody>
          <a:bodyPr wrap="square" lIns="0" rIns="0" tIns="0" bIns="0" anchor="t">
            <a:spAutoFit/>
          </a:bodyPr>
          <a:lstStyle/>
          <a:p>
            <a:pPr algn="ctr">
              <a:lnSpc>
                <a:spcPct val="115000"/>
              </a:lnSpc>
            </a:pPr>
            <a:r>
              <a:rPr sz="1600" b="1">
                <a:solidFill>
                  <a:srgbClr val="0A2540"/>
                </a:solidFill>
                <a:latin typeface="Calibri"/>
              </a:rPr>
              <a:t>DS3231 RTC</a:t>
            </a:r>
          </a:p>
        </p:txBody>
      </p:sp>
      <p:sp>
        <p:nvSpPr>
          <p:cNvPr id="9" name="TextBox 8"/>
          <p:cNvSpPr txBox="1"/>
          <p:nvPr/>
        </p:nvSpPr>
        <p:spPr>
          <a:xfrm>
            <a:off x="822960" y="6080760"/>
            <a:ext cx="3657600" cy="274320"/>
          </a:xfrm>
          <a:prstGeom prst="rect">
            <a:avLst/>
          </a:prstGeom>
          <a:noFill/>
        </p:spPr>
        <p:txBody>
          <a:bodyPr wrap="square" lIns="0" rIns="0" tIns="0" bIns="0" anchor="t">
            <a:spAutoFit/>
          </a:bodyPr>
          <a:lstStyle/>
          <a:p>
            <a:pPr algn="ctr">
              <a:lnSpc>
                <a:spcPct val="115000"/>
              </a:lnSpc>
            </a:pPr>
            <a:r>
              <a:rPr sz="1100" b="0">
                <a:solidFill>
                  <a:srgbClr val="5B6472"/>
                </a:solidFill>
                <a:latin typeface="Calibri"/>
              </a:rPr>
              <a:t>Accurate time, even offline</a:t>
            </a:r>
          </a:p>
        </p:txBody>
      </p:sp>
      <p:sp>
        <p:nvSpPr>
          <p:cNvPr id="10" name="TextBox 9"/>
          <p:cNvSpPr txBox="1"/>
          <p:nvPr/>
        </p:nvSpPr>
        <p:spPr>
          <a:xfrm>
            <a:off x="4937760" y="1645920"/>
            <a:ext cx="6766560" cy="365760"/>
          </a:xfrm>
          <a:prstGeom prst="rect">
            <a:avLst/>
          </a:prstGeom>
          <a:noFill/>
        </p:spPr>
        <p:txBody>
          <a:bodyPr wrap="square" lIns="0" rIns="0" tIns="0" bIns="0" anchor="t">
            <a:spAutoFit/>
          </a:bodyPr>
          <a:lstStyle/>
          <a:p>
            <a:pPr algn="l">
              <a:lnSpc>
                <a:spcPct val="115000"/>
              </a:lnSpc>
            </a:pPr>
            <a:r>
              <a:rPr sz="1100" b="1">
                <a:solidFill>
                  <a:srgbClr val="D48441"/>
                </a:solidFill>
                <a:latin typeface="Calibri"/>
              </a:rPr>
              <a:t>PURPOSE</a:t>
            </a:r>
          </a:p>
        </p:txBody>
      </p:sp>
      <p:sp>
        <p:nvSpPr>
          <p:cNvPr id="11" name="TextBox 10"/>
          <p:cNvSpPr txBox="1"/>
          <p:nvPr/>
        </p:nvSpPr>
        <p:spPr>
          <a:xfrm>
            <a:off x="4937760" y="1965960"/>
            <a:ext cx="676656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Every ping gets the right time.</a:t>
            </a:r>
          </a:p>
        </p:txBody>
      </p:sp>
      <p:sp>
        <p:nvSpPr>
          <p:cNvPr id="12" name="Rectangle 11"/>
          <p:cNvSpPr/>
          <p:nvPr/>
        </p:nvSpPr>
        <p:spPr>
          <a:xfrm>
            <a:off x="4937760" y="2788920"/>
            <a:ext cx="109728"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26974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RTC = Real-Time Clock Module.</a:t>
            </a:r>
          </a:p>
        </p:txBody>
      </p:sp>
      <p:sp>
        <p:nvSpPr>
          <p:cNvPr id="14" name="TextBox 13"/>
          <p:cNvSpPr txBox="1"/>
          <p:nvPr/>
        </p:nvSpPr>
        <p:spPr>
          <a:xfrm>
            <a:off x="5212080" y="29900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Dedicated hardware that tracks the current date and time continuously.</a:t>
            </a:r>
          </a:p>
        </p:txBody>
      </p:sp>
      <p:sp>
        <p:nvSpPr>
          <p:cNvPr id="15" name="Rectangle 14"/>
          <p:cNvSpPr/>
          <p:nvPr/>
        </p:nvSpPr>
        <p:spPr>
          <a:xfrm>
            <a:off x="4937760" y="3447288"/>
            <a:ext cx="109728"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3355848"/>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Accurate time, even offline.</a:t>
            </a:r>
          </a:p>
        </p:txBody>
      </p:sp>
      <p:sp>
        <p:nvSpPr>
          <p:cNvPr id="17" name="TextBox 16"/>
          <p:cNvSpPr txBox="1"/>
          <p:nvPr/>
        </p:nvSpPr>
        <p:spPr>
          <a:xfrm>
            <a:off x="5212080" y="3648456"/>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The RTC keeps correct time even when the device is disconnected from the network.</a:t>
            </a:r>
          </a:p>
        </p:txBody>
      </p:sp>
      <p:sp>
        <p:nvSpPr>
          <p:cNvPr id="18" name="Rectangle 17"/>
          <p:cNvSpPr/>
          <p:nvPr/>
        </p:nvSpPr>
        <p:spPr>
          <a:xfrm>
            <a:off x="4937760" y="4105656"/>
            <a:ext cx="109728"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4014216"/>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Every stored ping gets an exact timestamp.</a:t>
            </a:r>
          </a:p>
        </p:txBody>
      </p:sp>
      <p:sp>
        <p:nvSpPr>
          <p:cNvPr id="20" name="TextBox 19"/>
          <p:cNvSpPr txBox="1"/>
          <p:nvPr/>
        </p:nvSpPr>
        <p:spPr>
          <a:xfrm>
            <a:off x="5212080" y="4306824"/>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When SD backup is active, each reading is tagged with the precise time of capture.</a:t>
            </a:r>
          </a:p>
        </p:txBody>
      </p:sp>
      <p:sp>
        <p:nvSpPr>
          <p:cNvPr id="21" name="Rectangle 20"/>
          <p:cNvSpPr/>
          <p:nvPr/>
        </p:nvSpPr>
        <p:spPr>
          <a:xfrm>
            <a:off x="4937760" y="4764024"/>
            <a:ext cx="109728"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4672584"/>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Correct historical records.</a:t>
            </a:r>
          </a:p>
        </p:txBody>
      </p:sp>
      <p:sp>
        <p:nvSpPr>
          <p:cNvPr id="23" name="TextBox 22"/>
          <p:cNvSpPr txBox="1"/>
          <p:nvPr/>
        </p:nvSpPr>
        <p:spPr>
          <a:xfrm>
            <a:off x="5212080" y="4965192"/>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Server-side logs, reports, and compliance data reflect actual capture time — not arrival time.</a:t>
            </a:r>
          </a:p>
        </p:txBody>
      </p:sp>
      <p:sp>
        <p:nvSpPr>
          <p:cNvPr id="24" name="Rectangle 23"/>
          <p:cNvSpPr/>
          <p:nvPr/>
        </p:nvSpPr>
        <p:spPr>
          <a:xfrm>
            <a:off x="4937760" y="5422392"/>
            <a:ext cx="109728"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0" y="5330952"/>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Traceability across outages.</a:t>
            </a:r>
          </a:p>
        </p:txBody>
      </p:sp>
      <p:sp>
        <p:nvSpPr>
          <p:cNvPr id="26" name="TextBox 25"/>
          <p:cNvSpPr txBox="1"/>
          <p:nvPr/>
        </p:nvSpPr>
        <p:spPr>
          <a:xfrm>
            <a:off x="5212080" y="5623560"/>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You can always tell when each reading was taken, regardless of when it reached the cloud.</a:t>
            </a:r>
          </a:p>
        </p:txBody>
      </p:sp>
      <p:sp>
        <p:nvSpPr>
          <p:cNvPr id="27" name="TextBox 26"/>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RTC Module</a:t>
            </a:r>
          </a:p>
        </p:txBody>
      </p:sp>
      <p:sp>
        <p:nvSpPr>
          <p:cNvPr id="28" name="TextBox 27"/>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6 of 10</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FEATURE 04  ·  WEB SERVER</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Browser-based configuration for easy deployment</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828800"/>
            <a:ext cx="3657600" cy="3657600"/>
          </a:xfrm>
          <a:prstGeom prst="roundRect">
            <a:avLst>
              <a:gd name="adj" fmla="val 18000"/>
            </a:avLst>
          </a:prstGeom>
          <a:solidFill>
            <a:srgbClr val="FD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lobe.png"/>
          <p:cNvPicPr>
            <a:picLocks noChangeAspect="1"/>
          </p:cNvPicPr>
          <p:nvPr/>
        </p:nvPicPr>
        <p:blipFill>
          <a:blip r:embed="rId2"/>
          <a:stretch>
            <a:fillRect/>
          </a:stretch>
        </p:blipFill>
        <p:spPr>
          <a:xfrm>
            <a:off x="1280160" y="2286000"/>
            <a:ext cx="2743200" cy="2743200"/>
          </a:xfrm>
          <a:prstGeom prst="rect">
            <a:avLst/>
          </a:prstGeom>
        </p:spPr>
      </p:pic>
      <p:sp>
        <p:nvSpPr>
          <p:cNvPr id="8" name="TextBox 7"/>
          <p:cNvSpPr txBox="1"/>
          <p:nvPr/>
        </p:nvSpPr>
        <p:spPr>
          <a:xfrm>
            <a:off x="822960" y="5715000"/>
            <a:ext cx="3657600" cy="365760"/>
          </a:xfrm>
          <a:prstGeom prst="rect">
            <a:avLst/>
          </a:prstGeom>
          <a:noFill/>
        </p:spPr>
        <p:txBody>
          <a:bodyPr wrap="square" lIns="0" rIns="0" tIns="0" bIns="0" anchor="t">
            <a:spAutoFit/>
          </a:bodyPr>
          <a:lstStyle/>
          <a:p>
            <a:pPr algn="ctr">
              <a:lnSpc>
                <a:spcPct val="115000"/>
              </a:lnSpc>
            </a:pPr>
            <a:r>
              <a:rPr sz="1600" b="1">
                <a:solidFill>
                  <a:srgbClr val="0A2540"/>
                </a:solidFill>
                <a:latin typeface="Calibri"/>
              </a:rPr>
              <a:t>Web Configuration Portal</a:t>
            </a:r>
          </a:p>
        </p:txBody>
      </p:sp>
      <p:sp>
        <p:nvSpPr>
          <p:cNvPr id="9" name="TextBox 8"/>
          <p:cNvSpPr txBox="1"/>
          <p:nvPr/>
        </p:nvSpPr>
        <p:spPr>
          <a:xfrm>
            <a:off x="822960" y="6080760"/>
            <a:ext cx="3657600" cy="274320"/>
          </a:xfrm>
          <a:prstGeom prst="rect">
            <a:avLst/>
          </a:prstGeom>
          <a:noFill/>
        </p:spPr>
        <p:txBody>
          <a:bodyPr wrap="square" lIns="0" rIns="0" tIns="0" bIns="0" anchor="t">
            <a:spAutoFit/>
          </a:bodyPr>
          <a:lstStyle/>
          <a:p>
            <a:pPr algn="ctr">
              <a:lnSpc>
                <a:spcPct val="115000"/>
              </a:lnSpc>
            </a:pPr>
            <a:r>
              <a:rPr sz="1100" b="0">
                <a:solidFill>
                  <a:srgbClr val="5B6472"/>
                </a:solidFill>
                <a:latin typeface="Calibri"/>
              </a:rPr>
              <a:t>Browser-based  ·  No code, no reflash</a:t>
            </a:r>
          </a:p>
        </p:txBody>
      </p:sp>
      <p:sp>
        <p:nvSpPr>
          <p:cNvPr id="10" name="TextBox 9"/>
          <p:cNvSpPr txBox="1"/>
          <p:nvPr/>
        </p:nvSpPr>
        <p:spPr>
          <a:xfrm>
            <a:off x="4937760" y="1645920"/>
            <a:ext cx="6766560" cy="365760"/>
          </a:xfrm>
          <a:prstGeom prst="rect">
            <a:avLst/>
          </a:prstGeom>
          <a:noFill/>
        </p:spPr>
        <p:txBody>
          <a:bodyPr wrap="square" lIns="0" rIns="0" tIns="0" bIns="0" anchor="t">
            <a:spAutoFit/>
          </a:bodyPr>
          <a:lstStyle/>
          <a:p>
            <a:pPr algn="l">
              <a:lnSpc>
                <a:spcPct val="115000"/>
              </a:lnSpc>
            </a:pPr>
            <a:r>
              <a:rPr sz="1100" b="1">
                <a:solidFill>
                  <a:srgbClr val="D48441"/>
                </a:solidFill>
                <a:latin typeface="Calibri"/>
              </a:rPr>
              <a:t>BEFORE  ·  AFTER</a:t>
            </a:r>
          </a:p>
        </p:txBody>
      </p:sp>
      <p:sp>
        <p:nvSpPr>
          <p:cNvPr id="11" name="TextBox 10"/>
          <p:cNvSpPr txBox="1"/>
          <p:nvPr/>
        </p:nvSpPr>
        <p:spPr>
          <a:xfrm>
            <a:off x="4937760" y="1965960"/>
            <a:ext cx="676656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How configuration changed.</a:t>
            </a:r>
          </a:p>
        </p:txBody>
      </p:sp>
      <p:sp>
        <p:nvSpPr>
          <p:cNvPr id="12" name="Rectangle 11"/>
          <p:cNvSpPr/>
          <p:nvPr/>
        </p:nvSpPr>
        <p:spPr>
          <a:xfrm>
            <a:off x="4937760" y="2788920"/>
            <a:ext cx="3291840" cy="3383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37760" y="2788920"/>
            <a:ext cx="3291840" cy="36576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6360" y="2852928"/>
            <a:ext cx="283464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a:rPr>
              <a:t>BEFORE</a:t>
            </a:r>
          </a:p>
        </p:txBody>
      </p:sp>
      <p:sp>
        <p:nvSpPr>
          <p:cNvPr id="15" name="TextBox 14"/>
          <p:cNvSpPr txBox="1"/>
          <p:nvPr/>
        </p:nvSpPr>
        <p:spPr>
          <a:xfrm>
            <a:off x="5166360" y="3337560"/>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Open Arduino IDE</a:t>
            </a:r>
          </a:p>
        </p:txBody>
      </p:sp>
      <p:sp>
        <p:nvSpPr>
          <p:cNvPr id="16" name="TextBox 15"/>
          <p:cNvSpPr txBox="1"/>
          <p:nvPr/>
        </p:nvSpPr>
        <p:spPr>
          <a:xfrm>
            <a:off x="5166360" y="3776472"/>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Edit source code manually</a:t>
            </a:r>
          </a:p>
        </p:txBody>
      </p:sp>
      <p:sp>
        <p:nvSpPr>
          <p:cNvPr id="17" name="TextBox 16"/>
          <p:cNvSpPr txBox="1"/>
          <p:nvPr/>
        </p:nvSpPr>
        <p:spPr>
          <a:xfrm>
            <a:off x="5166360" y="4215384"/>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Recompile firmware</a:t>
            </a:r>
          </a:p>
        </p:txBody>
      </p:sp>
      <p:sp>
        <p:nvSpPr>
          <p:cNvPr id="18" name="TextBox 17"/>
          <p:cNvSpPr txBox="1"/>
          <p:nvPr/>
        </p:nvSpPr>
        <p:spPr>
          <a:xfrm>
            <a:off x="5166360" y="4654296"/>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Reflash the ESP32</a:t>
            </a:r>
          </a:p>
        </p:txBody>
      </p:sp>
      <p:sp>
        <p:nvSpPr>
          <p:cNvPr id="19" name="TextBox 18"/>
          <p:cNvSpPr txBox="1"/>
          <p:nvPr/>
        </p:nvSpPr>
        <p:spPr>
          <a:xfrm>
            <a:off x="5166360" y="5093208"/>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Requires a developer</a:t>
            </a:r>
          </a:p>
        </p:txBody>
      </p:sp>
      <p:sp>
        <p:nvSpPr>
          <p:cNvPr id="20" name="TextBox 19"/>
          <p:cNvSpPr txBox="1"/>
          <p:nvPr/>
        </p:nvSpPr>
        <p:spPr>
          <a:xfrm>
            <a:off x="5166360" y="5532120"/>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Slow, technical, error-prone</a:t>
            </a:r>
          </a:p>
        </p:txBody>
      </p:sp>
      <p:sp>
        <p:nvSpPr>
          <p:cNvPr id="21" name="Rectangle 20"/>
          <p:cNvSpPr/>
          <p:nvPr/>
        </p:nvSpPr>
        <p:spPr>
          <a:xfrm>
            <a:off x="8412480" y="2788920"/>
            <a:ext cx="3291840" cy="3383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2788920"/>
            <a:ext cx="3291840" cy="3657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41080" y="2852928"/>
            <a:ext cx="283464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a:rPr>
              <a:t>AFTER</a:t>
            </a:r>
          </a:p>
        </p:txBody>
      </p:sp>
      <p:sp>
        <p:nvSpPr>
          <p:cNvPr id="24" name="TextBox 23"/>
          <p:cNvSpPr txBox="1"/>
          <p:nvPr/>
        </p:nvSpPr>
        <p:spPr>
          <a:xfrm>
            <a:off x="8641080" y="3337560"/>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Open browser</a:t>
            </a:r>
          </a:p>
        </p:txBody>
      </p:sp>
      <p:sp>
        <p:nvSpPr>
          <p:cNvPr id="25" name="TextBox 24"/>
          <p:cNvSpPr txBox="1"/>
          <p:nvPr/>
        </p:nvSpPr>
        <p:spPr>
          <a:xfrm>
            <a:off x="8641080" y="3776472"/>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Navigate to device portal</a:t>
            </a:r>
          </a:p>
        </p:txBody>
      </p:sp>
      <p:sp>
        <p:nvSpPr>
          <p:cNvPr id="26" name="TextBox 25"/>
          <p:cNvSpPr txBox="1"/>
          <p:nvPr/>
        </p:nvSpPr>
        <p:spPr>
          <a:xfrm>
            <a:off x="8641080" y="4215384"/>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Change settings in UI</a:t>
            </a:r>
          </a:p>
        </p:txBody>
      </p:sp>
      <p:sp>
        <p:nvSpPr>
          <p:cNvPr id="27" name="TextBox 26"/>
          <p:cNvSpPr txBox="1"/>
          <p:nvPr/>
        </p:nvSpPr>
        <p:spPr>
          <a:xfrm>
            <a:off x="8641080" y="4654296"/>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Click save</a:t>
            </a:r>
          </a:p>
        </p:txBody>
      </p:sp>
      <p:sp>
        <p:nvSpPr>
          <p:cNvPr id="28" name="TextBox 27"/>
          <p:cNvSpPr txBox="1"/>
          <p:nvPr/>
        </p:nvSpPr>
        <p:spPr>
          <a:xfrm>
            <a:off x="8641080" y="5093208"/>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Anyone can do it</a:t>
            </a:r>
          </a:p>
        </p:txBody>
      </p:sp>
      <p:sp>
        <p:nvSpPr>
          <p:cNvPr id="29" name="TextBox 28"/>
          <p:cNvSpPr txBox="1"/>
          <p:nvPr/>
        </p:nvSpPr>
        <p:spPr>
          <a:xfrm>
            <a:off x="8641080" y="5532120"/>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Fast, user-friendly</a:t>
            </a:r>
          </a:p>
        </p:txBody>
      </p:sp>
      <p:sp>
        <p:nvSpPr>
          <p:cNvPr id="30" name="TextBox 29"/>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Web Server</a:t>
            </a:r>
          </a:p>
        </p:txBody>
      </p:sp>
      <p:sp>
        <p:nvSpPr>
          <p:cNvPr id="31" name="TextBox 30"/>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7 of 10</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FEATURE 04  ·  WEB PORTAL LIVE VIEW</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Modern, browser-based configuration interface</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8640" y="1650200"/>
            <a:ext cx="5440680" cy="2880360"/>
          </a:xfrm>
          <a:prstGeom prst="rect">
            <a:avLst/>
          </a:prstGeom>
          <a:solidFill>
            <a:srgbClr val="CF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00200"/>
            <a:ext cx="5440680" cy="2880360"/>
          </a:xfrm>
          <a:prstGeom prst="roundRect">
            <a:avLst>
              <a:gd name="adj" fmla="val 2000"/>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ebserver_overview.png"/>
          <p:cNvPicPr>
            <a:picLocks noChangeAspect="1"/>
          </p:cNvPicPr>
          <p:nvPr/>
        </p:nvPicPr>
        <p:blipFill>
          <a:blip r:embed="rId2"/>
          <a:stretch>
            <a:fillRect/>
          </a:stretch>
        </p:blipFill>
        <p:spPr>
          <a:xfrm>
            <a:off x="621792" y="1673352"/>
            <a:ext cx="5294376" cy="2734056"/>
          </a:xfrm>
          <a:prstGeom prst="rect">
            <a:avLst/>
          </a:prstGeom>
        </p:spPr>
      </p:pic>
      <p:sp>
        <p:nvSpPr>
          <p:cNvPr id="9" name="Rectangle 8"/>
          <p:cNvSpPr/>
          <p:nvPr/>
        </p:nvSpPr>
        <p:spPr>
          <a:xfrm>
            <a:off x="548640" y="4617720"/>
            <a:ext cx="137160" cy="82296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5074920" cy="365760"/>
          </a:xfrm>
          <a:prstGeom prst="rect">
            <a:avLst/>
          </a:prstGeom>
          <a:noFill/>
        </p:spPr>
        <p:txBody>
          <a:bodyPr wrap="square" lIns="0" rIns="0" tIns="0" bIns="0" anchor="t">
            <a:spAutoFit/>
          </a:bodyPr>
          <a:lstStyle/>
          <a:p>
            <a:pPr algn="l">
              <a:lnSpc>
                <a:spcPct val="115000"/>
              </a:lnSpc>
            </a:pPr>
            <a:r>
              <a:rPr sz="1500" b="1">
                <a:solidFill>
                  <a:srgbClr val="0A2540"/>
                </a:solidFill>
                <a:latin typeface="Calibri"/>
              </a:rPr>
              <a:t>01  ·  Dashboard</a:t>
            </a:r>
          </a:p>
        </p:txBody>
      </p:sp>
      <p:sp>
        <p:nvSpPr>
          <p:cNvPr id="11" name="TextBox 10"/>
          <p:cNvSpPr txBox="1"/>
          <p:nvPr/>
        </p:nvSpPr>
        <p:spPr>
          <a:xfrm>
            <a:off x="822960" y="4983480"/>
            <a:ext cx="5074920" cy="45720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Real-time system status — firmware version, MAC address, uptime, heap usage, active tasks.</a:t>
            </a:r>
          </a:p>
        </p:txBody>
      </p:sp>
      <p:sp>
        <p:nvSpPr>
          <p:cNvPr id="12" name="Rectangle 11"/>
          <p:cNvSpPr/>
          <p:nvPr/>
        </p:nvSpPr>
        <p:spPr>
          <a:xfrm>
            <a:off x="6267920" y="1650200"/>
            <a:ext cx="5440680" cy="2880360"/>
          </a:xfrm>
          <a:prstGeom prst="rect">
            <a:avLst/>
          </a:prstGeom>
          <a:solidFill>
            <a:srgbClr val="CF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600200"/>
            <a:ext cx="5440680" cy="2880360"/>
          </a:xfrm>
          <a:prstGeom prst="roundRect">
            <a:avLst>
              <a:gd name="adj" fmla="val 2000"/>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ebserver_sensors.png"/>
          <p:cNvPicPr>
            <a:picLocks noChangeAspect="1"/>
          </p:cNvPicPr>
          <p:nvPr/>
        </p:nvPicPr>
        <p:blipFill>
          <a:blip r:embed="rId3"/>
          <a:stretch>
            <a:fillRect/>
          </a:stretch>
        </p:blipFill>
        <p:spPr>
          <a:xfrm>
            <a:off x="6291072" y="1673352"/>
            <a:ext cx="5294376" cy="2734056"/>
          </a:xfrm>
          <a:prstGeom prst="rect">
            <a:avLst/>
          </a:prstGeom>
        </p:spPr>
      </p:pic>
      <p:sp>
        <p:nvSpPr>
          <p:cNvPr id="15" name="Rectangle 14"/>
          <p:cNvSpPr/>
          <p:nvPr/>
        </p:nvSpPr>
        <p:spPr>
          <a:xfrm>
            <a:off x="6217920" y="4617720"/>
            <a:ext cx="137160" cy="822960"/>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617720"/>
            <a:ext cx="5074920" cy="365760"/>
          </a:xfrm>
          <a:prstGeom prst="rect">
            <a:avLst/>
          </a:prstGeom>
          <a:noFill/>
        </p:spPr>
        <p:txBody>
          <a:bodyPr wrap="square" lIns="0" rIns="0" tIns="0" bIns="0" anchor="t">
            <a:spAutoFit/>
          </a:bodyPr>
          <a:lstStyle/>
          <a:p>
            <a:pPr algn="l">
              <a:lnSpc>
                <a:spcPct val="115000"/>
              </a:lnSpc>
            </a:pPr>
            <a:r>
              <a:rPr sz="1500" b="1">
                <a:solidFill>
                  <a:srgbClr val="0A2540"/>
                </a:solidFill>
                <a:latin typeface="Calibri"/>
              </a:rPr>
              <a:t>02  ·  Sensor Management</a:t>
            </a:r>
          </a:p>
        </p:txBody>
      </p:sp>
      <p:sp>
        <p:nvSpPr>
          <p:cNvPr id="17" name="TextBox 16"/>
          <p:cNvSpPr txBox="1"/>
          <p:nvPr/>
        </p:nvSpPr>
        <p:spPr>
          <a:xfrm>
            <a:off x="6492240" y="4983480"/>
            <a:ext cx="5074920" cy="45720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Add, edit, test and delete Modbus sensors from the browser — no code, no reflash.</a:t>
            </a:r>
          </a:p>
        </p:txBody>
      </p:sp>
      <p:sp>
        <p:nvSpPr>
          <p:cNvPr id="18" name="Rounded Rectangle 17"/>
          <p:cNvSpPr/>
          <p:nvPr/>
        </p:nvSpPr>
        <p:spPr>
          <a:xfrm>
            <a:off x="548640" y="5943600"/>
            <a:ext cx="11109960" cy="457200"/>
          </a:xfrm>
          <a:prstGeom prst="roundRect">
            <a:avLst>
              <a:gd name="adj" fmla="val 3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989320"/>
            <a:ext cx="10607040" cy="182880"/>
          </a:xfrm>
          <a:prstGeom prst="rect">
            <a:avLst/>
          </a:prstGeom>
          <a:noFill/>
        </p:spPr>
        <p:txBody>
          <a:bodyPr wrap="square" lIns="0" rIns="0" tIns="0" bIns="0" anchor="t">
            <a:spAutoFit/>
          </a:bodyPr>
          <a:lstStyle/>
          <a:p>
            <a:pPr algn="l">
              <a:lnSpc>
                <a:spcPct val="115000"/>
              </a:lnSpc>
            </a:pPr>
            <a:r>
              <a:rPr sz="800" b="1">
                <a:solidFill>
                  <a:srgbClr val="00C2B8"/>
                </a:solidFill>
                <a:latin typeface="Calibri"/>
              </a:rPr>
              <a:t>PORTAL SECTIONS</a:t>
            </a:r>
          </a:p>
        </p:txBody>
      </p:sp>
      <p:sp>
        <p:nvSpPr>
          <p:cNvPr id="20" name="TextBox 19"/>
          <p:cNvSpPr txBox="1"/>
          <p:nvPr/>
        </p:nvSpPr>
        <p:spPr>
          <a:xfrm>
            <a:off x="822960" y="6144768"/>
            <a:ext cx="10607040" cy="27432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Overview  ·  Network Config  ·  Azure IoT Hub  ·  Modbus Sensors  ·  Write Operations  ·  OTA Update</a:t>
            </a:r>
          </a:p>
        </p:txBody>
      </p:sp>
      <p:sp>
        <p:nvSpPr>
          <p:cNvPr id="21" name="TextBox 20"/>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Web Portal</a:t>
            </a:r>
          </a:p>
        </p:txBody>
      </p:sp>
      <p:sp>
        <p:nvSpPr>
          <p:cNvPr id="22" name="TextBox 21"/>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8 of 10</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OVERALL BUSINESS IMPACT</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How the transformation helps the business</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417320"/>
            <a:ext cx="10972800" cy="365760"/>
          </a:xfrm>
          <a:prstGeom prst="rect">
            <a:avLst/>
          </a:prstGeom>
          <a:noFill/>
        </p:spPr>
        <p:txBody>
          <a:bodyPr wrap="square" lIns="0" rIns="0" tIns="0" bIns="0" anchor="t">
            <a:spAutoFit/>
          </a:bodyPr>
          <a:lstStyle/>
          <a:p>
            <a:pPr algn="l">
              <a:lnSpc>
                <a:spcPct val="115000"/>
              </a:lnSpc>
            </a:pPr>
            <a:r>
              <a:rPr sz="1300" b="0">
                <a:solidFill>
                  <a:srgbClr val="5B6472"/>
                </a:solidFill>
                <a:latin typeface="Calibri"/>
              </a:rPr>
              <a:t>Six outcomes — direct results of the four additions above.</a:t>
            </a:r>
          </a:p>
        </p:txBody>
      </p:sp>
      <p:sp>
        <p:nvSpPr>
          <p:cNvPr id="7" name="Rectangle 6"/>
          <p:cNvSpPr/>
          <p:nvPr/>
        </p:nvSpPr>
        <p:spPr>
          <a:xfrm>
            <a:off x="588640" y="200596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6596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65960"/>
            <a:ext cx="3657600" cy="9144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dcard.png"/>
          <p:cNvPicPr>
            <a:picLocks noChangeAspect="1"/>
          </p:cNvPicPr>
          <p:nvPr/>
        </p:nvPicPr>
        <p:blipFill>
          <a:blip r:embed="rId2"/>
          <a:stretch>
            <a:fillRect/>
          </a:stretch>
        </p:blipFill>
        <p:spPr>
          <a:xfrm>
            <a:off x="822960" y="2286000"/>
            <a:ext cx="685800" cy="685800"/>
          </a:xfrm>
          <a:prstGeom prst="rect">
            <a:avLst/>
          </a:prstGeom>
        </p:spPr>
      </p:pic>
      <p:sp>
        <p:nvSpPr>
          <p:cNvPr id="11" name="TextBox 10"/>
          <p:cNvSpPr txBox="1"/>
          <p:nvPr/>
        </p:nvSpPr>
        <p:spPr>
          <a:xfrm>
            <a:off x="1645920" y="228600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Major reduction</a:t>
            </a:r>
          </a:p>
          <a:p>
            <a:pPr algn="l">
              <a:lnSpc>
                <a:spcPct val="115000"/>
              </a:lnSpc>
            </a:pPr>
            <a:r>
              <a:rPr sz="1400" b="1">
                <a:solidFill>
                  <a:srgbClr val="0A2540"/>
                </a:solidFill>
                <a:latin typeface="Calibri"/>
              </a:rPr>
              <a:t>in data loss.</a:t>
            </a:r>
          </a:p>
        </p:txBody>
      </p:sp>
      <p:sp>
        <p:nvSpPr>
          <p:cNvPr id="12" name="TextBox 11"/>
          <p:cNvSpPr txBox="1"/>
          <p:nvPr/>
        </p:nvSpPr>
        <p:spPr>
          <a:xfrm>
            <a:off x="822960" y="315468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SD backup + SIM failover keep data flowing through outages.</a:t>
            </a:r>
          </a:p>
        </p:txBody>
      </p:sp>
      <p:sp>
        <p:nvSpPr>
          <p:cNvPr id="13" name="Rectangle 12"/>
          <p:cNvSpPr/>
          <p:nvPr/>
        </p:nvSpPr>
        <p:spPr>
          <a:xfrm>
            <a:off x="4337680" y="200596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96596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965960"/>
            <a:ext cx="3657600" cy="9144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ifi.png"/>
          <p:cNvPicPr>
            <a:picLocks noChangeAspect="1"/>
          </p:cNvPicPr>
          <p:nvPr/>
        </p:nvPicPr>
        <p:blipFill>
          <a:blip r:embed="rId3"/>
          <a:stretch>
            <a:fillRect/>
          </a:stretch>
        </p:blipFill>
        <p:spPr>
          <a:xfrm>
            <a:off x="4572000" y="2286000"/>
            <a:ext cx="685800" cy="685800"/>
          </a:xfrm>
          <a:prstGeom prst="rect">
            <a:avLst/>
          </a:prstGeom>
        </p:spPr>
      </p:pic>
      <p:sp>
        <p:nvSpPr>
          <p:cNvPr id="17" name="TextBox 16"/>
          <p:cNvSpPr txBox="1"/>
          <p:nvPr/>
        </p:nvSpPr>
        <p:spPr>
          <a:xfrm>
            <a:off x="5394960" y="228600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Improved connectivity</a:t>
            </a:r>
          </a:p>
          <a:p>
            <a:pPr algn="l">
              <a:lnSpc>
                <a:spcPct val="115000"/>
              </a:lnSpc>
            </a:pPr>
            <a:r>
              <a:rPr sz="1400" b="1">
                <a:solidFill>
                  <a:srgbClr val="0A2540"/>
                </a:solidFill>
                <a:latin typeface="Calibri"/>
              </a:rPr>
              <a:t>reliability.</a:t>
            </a:r>
          </a:p>
        </p:txBody>
      </p:sp>
      <p:sp>
        <p:nvSpPr>
          <p:cNvPr id="18" name="TextBox 17"/>
          <p:cNvSpPr txBox="1"/>
          <p:nvPr/>
        </p:nvSpPr>
        <p:spPr>
          <a:xfrm>
            <a:off x="4572000" y="315468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Dual network removes the single-point-of-failure from WiFi.</a:t>
            </a:r>
          </a:p>
        </p:txBody>
      </p:sp>
      <p:sp>
        <p:nvSpPr>
          <p:cNvPr id="19" name="Rectangle 18"/>
          <p:cNvSpPr/>
          <p:nvPr/>
        </p:nvSpPr>
        <p:spPr>
          <a:xfrm>
            <a:off x="8086720" y="200596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96596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1965960"/>
            <a:ext cx="3657600" cy="9144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globe.png"/>
          <p:cNvPicPr>
            <a:picLocks noChangeAspect="1"/>
          </p:cNvPicPr>
          <p:nvPr/>
        </p:nvPicPr>
        <p:blipFill>
          <a:blip r:embed="rId4"/>
          <a:stretch>
            <a:fillRect/>
          </a:stretch>
        </p:blipFill>
        <p:spPr>
          <a:xfrm>
            <a:off x="8321040" y="2286000"/>
            <a:ext cx="685800" cy="685800"/>
          </a:xfrm>
          <a:prstGeom prst="rect">
            <a:avLst/>
          </a:prstGeom>
        </p:spPr>
      </p:pic>
      <p:sp>
        <p:nvSpPr>
          <p:cNvPr id="23" name="TextBox 22"/>
          <p:cNvSpPr txBox="1"/>
          <p:nvPr/>
        </p:nvSpPr>
        <p:spPr>
          <a:xfrm>
            <a:off x="9144000" y="228600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Easier field deployment.</a:t>
            </a:r>
          </a:p>
        </p:txBody>
      </p:sp>
      <p:sp>
        <p:nvSpPr>
          <p:cNvPr id="24" name="TextBox 23"/>
          <p:cNvSpPr txBox="1"/>
          <p:nvPr/>
        </p:nvSpPr>
        <p:spPr>
          <a:xfrm>
            <a:off x="8321040" y="315468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Plug-and-play commissioning via the browser — no laptops, no code.</a:t>
            </a:r>
          </a:p>
        </p:txBody>
      </p:sp>
      <p:sp>
        <p:nvSpPr>
          <p:cNvPr id="25" name="Rectangle 24"/>
          <p:cNvSpPr/>
          <p:nvPr/>
        </p:nvSpPr>
        <p:spPr>
          <a:xfrm>
            <a:off x="588640" y="424624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20624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206240"/>
            <a:ext cx="3657600" cy="91440"/>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p_laptop.png"/>
          <p:cNvPicPr>
            <a:picLocks noChangeAspect="1"/>
          </p:cNvPicPr>
          <p:nvPr/>
        </p:nvPicPr>
        <p:blipFill>
          <a:blip r:embed="rId5"/>
          <a:stretch>
            <a:fillRect/>
          </a:stretch>
        </p:blipFill>
        <p:spPr>
          <a:xfrm>
            <a:off x="822960" y="4526280"/>
            <a:ext cx="685800" cy="685800"/>
          </a:xfrm>
          <a:prstGeom prst="rect">
            <a:avLst/>
          </a:prstGeom>
        </p:spPr>
      </p:pic>
      <p:sp>
        <p:nvSpPr>
          <p:cNvPr id="29" name="TextBox 28"/>
          <p:cNvSpPr txBox="1"/>
          <p:nvPr/>
        </p:nvSpPr>
        <p:spPr>
          <a:xfrm>
            <a:off x="1645920" y="452628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Reduced technical</a:t>
            </a:r>
          </a:p>
          <a:p>
            <a:pPr algn="l">
              <a:lnSpc>
                <a:spcPct val="115000"/>
              </a:lnSpc>
            </a:pPr>
            <a:r>
              <a:rPr sz="1400" b="1">
                <a:solidFill>
                  <a:srgbClr val="0A2540"/>
                </a:solidFill>
                <a:latin typeface="Calibri"/>
              </a:rPr>
              <a:t>dependency.</a:t>
            </a:r>
          </a:p>
        </p:txBody>
      </p:sp>
      <p:sp>
        <p:nvSpPr>
          <p:cNvPr id="30" name="TextBox 29"/>
          <p:cNvSpPr txBox="1"/>
          <p:nvPr/>
        </p:nvSpPr>
        <p:spPr>
          <a:xfrm>
            <a:off x="822960" y="539496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Non-technical users can configure, monitor, and adjust settings.</a:t>
            </a:r>
          </a:p>
        </p:txBody>
      </p:sp>
      <p:sp>
        <p:nvSpPr>
          <p:cNvPr id="31" name="Rectangle 30"/>
          <p:cNvSpPr/>
          <p:nvPr/>
        </p:nvSpPr>
        <p:spPr>
          <a:xfrm>
            <a:off x="4337680" y="424624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297680" y="420624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97680" y="4206240"/>
            <a:ext cx="3657600" cy="91440"/>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refresh.png"/>
          <p:cNvPicPr>
            <a:picLocks noChangeAspect="1"/>
          </p:cNvPicPr>
          <p:nvPr/>
        </p:nvPicPr>
        <p:blipFill>
          <a:blip r:embed="rId6"/>
          <a:stretch>
            <a:fillRect/>
          </a:stretch>
        </p:blipFill>
        <p:spPr>
          <a:xfrm>
            <a:off x="4572000" y="4526280"/>
            <a:ext cx="685800" cy="685800"/>
          </a:xfrm>
          <a:prstGeom prst="rect">
            <a:avLst/>
          </a:prstGeom>
        </p:spPr>
      </p:pic>
      <p:sp>
        <p:nvSpPr>
          <p:cNvPr id="35" name="TextBox 34"/>
          <p:cNvSpPr txBox="1"/>
          <p:nvPr/>
        </p:nvSpPr>
        <p:spPr>
          <a:xfrm>
            <a:off x="5394960" y="452628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Faster customer</a:t>
            </a:r>
          </a:p>
          <a:p>
            <a:pPr algn="l">
              <a:lnSpc>
                <a:spcPct val="115000"/>
              </a:lnSpc>
            </a:pPr>
            <a:r>
              <a:rPr sz="1400" b="1">
                <a:solidFill>
                  <a:srgbClr val="0A2540"/>
                </a:solidFill>
                <a:latin typeface="Calibri"/>
              </a:rPr>
              <a:t>support.</a:t>
            </a:r>
          </a:p>
        </p:txBody>
      </p:sp>
      <p:sp>
        <p:nvSpPr>
          <p:cNvPr id="36" name="TextBox 35"/>
          <p:cNvSpPr txBox="1"/>
          <p:nvPr/>
        </p:nvSpPr>
        <p:spPr>
          <a:xfrm>
            <a:off x="4572000" y="539496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Configuration changes happen remotely, without site visits.</a:t>
            </a:r>
          </a:p>
        </p:txBody>
      </p:sp>
      <p:sp>
        <p:nvSpPr>
          <p:cNvPr id="37" name="Rectangle 36"/>
          <p:cNvSpPr/>
          <p:nvPr/>
        </p:nvSpPr>
        <p:spPr>
          <a:xfrm>
            <a:off x="8086720" y="424624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46720" y="420624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46720" y="4206240"/>
            <a:ext cx="3657600" cy="91440"/>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p_eye.png"/>
          <p:cNvPicPr>
            <a:picLocks noChangeAspect="1"/>
          </p:cNvPicPr>
          <p:nvPr/>
        </p:nvPicPr>
        <p:blipFill>
          <a:blip r:embed="rId7"/>
          <a:stretch>
            <a:fillRect/>
          </a:stretch>
        </p:blipFill>
        <p:spPr>
          <a:xfrm>
            <a:off x="8321040" y="4526280"/>
            <a:ext cx="685800" cy="685800"/>
          </a:xfrm>
          <a:prstGeom prst="rect">
            <a:avLst/>
          </a:prstGeom>
        </p:spPr>
      </p:pic>
      <p:sp>
        <p:nvSpPr>
          <p:cNvPr id="41" name="TextBox 40"/>
          <p:cNvSpPr txBox="1"/>
          <p:nvPr/>
        </p:nvSpPr>
        <p:spPr>
          <a:xfrm>
            <a:off x="9144000" y="452628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Better user experience.</a:t>
            </a:r>
          </a:p>
        </p:txBody>
      </p:sp>
      <p:sp>
        <p:nvSpPr>
          <p:cNvPr id="42" name="TextBox 41"/>
          <p:cNvSpPr txBox="1"/>
          <p:nvPr/>
        </p:nvSpPr>
        <p:spPr>
          <a:xfrm>
            <a:off x="8321040" y="539496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Simple UI and reliable behavior across all network conditions.</a:t>
            </a:r>
          </a:p>
        </p:txBody>
      </p:sp>
      <p:sp>
        <p:nvSpPr>
          <p:cNvPr id="43" name="TextBox 42"/>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Business Impact</a:t>
            </a:r>
          </a:p>
        </p:txBody>
      </p:sp>
      <p:sp>
        <p:nvSpPr>
          <p:cNvPr id="44" name="TextBox 43"/>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9 of 10</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losin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371600" y="731520"/>
            <a:ext cx="9418320" cy="365760"/>
          </a:xfrm>
          <a:prstGeom prst="rect">
            <a:avLst/>
          </a:prstGeom>
          <a:noFill/>
        </p:spPr>
        <p:txBody>
          <a:bodyPr wrap="square" lIns="0" rIns="0" tIns="0" bIns="0" anchor="t">
            <a:spAutoFit/>
          </a:bodyPr>
          <a:lstStyle/>
          <a:p>
            <a:pPr algn="l">
              <a:lnSpc>
                <a:spcPct val="115000"/>
              </a:lnSpc>
            </a:pPr>
            <a:r>
              <a:rPr sz="1200" b="1">
                <a:solidFill>
                  <a:srgbClr val="00C2B8"/>
                </a:solidFill>
                <a:latin typeface="Calibri"/>
              </a:rPr>
              <a:t>FINAL SUMMARY</a:t>
            </a:r>
          </a:p>
        </p:txBody>
      </p:sp>
      <p:sp>
        <p:nvSpPr>
          <p:cNvPr id="4" name="TextBox 3"/>
          <p:cNvSpPr txBox="1"/>
          <p:nvPr/>
        </p:nvSpPr>
        <p:spPr>
          <a:xfrm>
            <a:off x="1371600" y="1371600"/>
            <a:ext cx="9418320" cy="1828800"/>
          </a:xfrm>
          <a:prstGeom prst="rect">
            <a:avLst/>
          </a:prstGeom>
          <a:noFill/>
        </p:spPr>
        <p:txBody>
          <a:bodyPr wrap="square" lIns="0" rIns="0" tIns="0" bIns="0" anchor="t">
            <a:spAutoFit/>
          </a:bodyPr>
          <a:lstStyle/>
          <a:p>
            <a:pPr algn="l">
              <a:lnSpc>
                <a:spcPct val="110000"/>
              </a:lnSpc>
            </a:pPr>
            <a:r>
              <a:rPr sz="4800" b="1">
                <a:solidFill>
                  <a:srgbClr val="FFFFFF"/>
                </a:solidFill>
                <a:latin typeface="Calibri"/>
              </a:rPr>
              <a:t>From Data Loss</a:t>
            </a:r>
          </a:p>
          <a:p>
            <a:pPr algn="l">
              <a:lnSpc>
                <a:spcPct val="110000"/>
              </a:lnSpc>
            </a:pPr>
            <a:r>
              <a:rPr sz="4800" b="1">
                <a:solidFill>
                  <a:srgbClr val="FFFFFF"/>
                </a:solidFill>
                <a:latin typeface="Calibri"/>
              </a:rPr>
              <a:t>to Smart Reliability.</a:t>
            </a:r>
          </a:p>
        </p:txBody>
      </p:sp>
      <p:sp>
        <p:nvSpPr>
          <p:cNvPr id="5" name="TextBox 4"/>
          <p:cNvSpPr txBox="1"/>
          <p:nvPr/>
        </p:nvSpPr>
        <p:spPr>
          <a:xfrm>
            <a:off x="1371600" y="3383280"/>
            <a:ext cx="9418320" cy="731520"/>
          </a:xfrm>
          <a:prstGeom prst="rect">
            <a:avLst/>
          </a:prstGeom>
          <a:noFill/>
        </p:spPr>
        <p:txBody>
          <a:bodyPr wrap="square" lIns="0" rIns="0" tIns="0" bIns="0" anchor="t">
            <a:spAutoFit/>
          </a:bodyPr>
          <a:lstStyle/>
          <a:p>
            <a:pPr algn="l">
              <a:lnSpc>
                <a:spcPct val="120000"/>
              </a:lnSpc>
            </a:pPr>
            <a:r>
              <a:rPr sz="2800" b="0">
                <a:solidFill>
                  <a:srgbClr val="00C2B8"/>
                </a:solidFill>
                <a:latin typeface="Calibri"/>
              </a:rPr>
              <a:t>A Complete IoT Upgrade.</a:t>
            </a:r>
          </a:p>
        </p:txBody>
      </p:sp>
      <p:sp>
        <p:nvSpPr>
          <p:cNvPr id="6" name="Rectangle 5"/>
          <p:cNvSpPr/>
          <p:nvPr/>
        </p:nvSpPr>
        <p:spPr>
          <a:xfrm>
            <a:off x="1371600" y="4343400"/>
            <a:ext cx="1097280" cy="36576"/>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526280"/>
            <a:ext cx="9418320" cy="32004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The device transformed from a WiFi-dependent system into a smart hybrid IoT solution.</a:t>
            </a:r>
          </a:p>
        </p:txBody>
      </p:sp>
      <p:sp>
        <p:nvSpPr>
          <p:cNvPr id="8" name="TextBox 7"/>
          <p:cNvSpPr txBox="1"/>
          <p:nvPr/>
        </p:nvSpPr>
        <p:spPr>
          <a:xfrm>
            <a:off x="1371600" y="4937760"/>
            <a:ext cx="9418320" cy="320040"/>
          </a:xfrm>
          <a:prstGeom prst="rect">
            <a:avLst/>
          </a:prstGeom>
          <a:noFill/>
        </p:spPr>
        <p:txBody>
          <a:bodyPr wrap="square" lIns="0" rIns="0" tIns="0" bIns="0" anchor="t">
            <a:spAutoFit/>
          </a:bodyPr>
          <a:lstStyle/>
          <a:p>
            <a:pPr algn="l">
              <a:lnSpc>
                <a:spcPct val="115000"/>
              </a:lnSpc>
            </a:pPr>
            <a:r>
              <a:rPr sz="1200" b="0">
                <a:solidFill>
                  <a:srgbClr val="959CA8"/>
                </a:solidFill>
                <a:latin typeface="Calibri"/>
              </a:rPr>
              <a:t>Dual network capability  ·  Offline data backup  ·  Accurate timestamp logging  ·  Easy web-based control</a:t>
            </a:r>
          </a:p>
        </p:txBody>
      </p:sp>
      <p:sp>
        <p:nvSpPr>
          <p:cNvPr id="9" name="TextBox 8"/>
          <p:cNvSpPr txBox="1"/>
          <p:nvPr/>
        </p:nvSpPr>
        <p:spPr>
          <a:xfrm>
            <a:off x="1371600" y="5989320"/>
            <a:ext cx="9418320" cy="32004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Thank you</a:t>
            </a:r>
          </a:p>
        </p:txBody>
      </p:sp>
      <p:sp>
        <p:nvSpPr>
          <p:cNvPr id="10" name="TextBox 9"/>
          <p:cNvSpPr txBox="1"/>
          <p:nvPr/>
        </p:nvSpPr>
        <p:spPr>
          <a:xfrm>
            <a:off x="1371600" y="6355080"/>
            <a:ext cx="9418320" cy="274320"/>
          </a:xfrm>
          <a:prstGeom prst="rect">
            <a:avLst/>
          </a:prstGeom>
          <a:noFill/>
        </p:spPr>
        <p:txBody>
          <a:bodyPr wrap="square" lIns="0" rIns="0" tIns="0" bIns="0" anchor="t">
            <a:spAutoFit/>
          </a:bodyPr>
          <a:lstStyle/>
          <a:p>
            <a:pPr algn="l">
              <a:lnSpc>
                <a:spcPct val="115000"/>
              </a:lnSpc>
            </a:pPr>
            <a:r>
              <a:rPr sz="1000" b="0">
                <a:solidFill>
                  <a:srgbClr val="959CA8"/>
                </a:solidFill>
                <a:latin typeface="Calibri"/>
              </a:rPr>
              <a:t>Y Chaithanya Reddy  ·  FluxGen  ·  IoT Platform</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