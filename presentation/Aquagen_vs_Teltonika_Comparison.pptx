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644" y="-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4329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Let me put this in context. Teltonika is what we currently buy externally — specifically their RUT956 and TRB246 series. Good products. Widely used.</a:t>
            </a:r>
          </a:p>
          <a:p>
            <a:endParaRPr/>
          </a:p>
          <a:p>
            <a:r>
              <a:t>On the left — Aquagen, our in-house build. On the right — Teltonika, what we buy.</a:t>
            </a:r>
          </a:p>
          <a:p>
            <a:endParaRPr/>
          </a:p>
          <a:p>
            <a:r>
              <a:t>Look at the feature rows. Connectivity — both do WiFi plus 4G LTE. Industrial bus — both do RS485 Modbus. Offline storage — both support SD-card caching. Cloud — Teltonika integrates via their RMS subscription or an MQTT broker; Aquagen connects directly to Azure IoT Hub.</a:t>
            </a:r>
          </a:p>
          <a:p>
            <a:endParaRPr/>
          </a:p>
          <a:p>
            <a:r>
              <a:t>The real differences are at the bottom. Customization — Aquagen is fully in-house; we can change anything. Teltonika is locked to RutOS parameters. Vendor dependency — Aquagen has none; Teltonika ties us to a Lithuania-based vendor and their subscription model.</a:t>
            </a:r>
          </a:p>
          <a:p>
            <a:endParaRPr/>
          </a:p>
          <a:p>
            <a:r>
              <a:t>Bottom line — we match them on core features, but we own the stack, the roadmap, and the cloud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396655" y="-51736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437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C2B8"/>
                </a:solidFill>
                <a:latin typeface="Calibri"/>
              </a:rPr>
              <a:t>IN-HOUSE vs EXTERNAL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2540"/>
                </a:solidFill>
                <a:latin typeface="Calibri"/>
              </a:rPr>
              <a:t>Aquagen vs Teltonika — feature-by-feature comparison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3640" y="1505373"/>
            <a:ext cx="11064240" cy="0"/>
          </a:xfrm>
          <a:prstGeom prst="line">
            <a:avLst/>
          </a:prstGeom>
          <a:ln w="12700">
            <a:solidFill>
              <a:srgbClr val="E5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93640" y="1965240"/>
            <a:ext cx="5532120" cy="4591007"/>
          </a:xfrm>
          <a:prstGeom prst="rect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553212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789394"/>
            <a:ext cx="5532120" cy="914400"/>
          </a:xfrm>
          <a:prstGeom prst="rect">
            <a:avLst/>
          </a:prstGeom>
          <a:solidFill>
            <a:srgbClr val="008C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882793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IN-HOUSE · BUILT BY 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992161"/>
            <a:ext cx="4800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Aquagen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2571"/>
            <a:ext cx="4800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dirty="0" err="1">
                <a:solidFill>
                  <a:srgbClr val="E4F8F7"/>
                </a:solidFill>
                <a:latin typeface="Calibri"/>
              </a:rPr>
              <a:t>FluxGen</a:t>
            </a:r>
            <a:r>
              <a:rPr sz="1000" b="0" dirty="0">
                <a:solidFill>
                  <a:srgbClr val="E4F8F7"/>
                </a:solidFill>
                <a:latin typeface="Calibri"/>
              </a:rPr>
              <a:t> in-house IoT gateway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017520"/>
            <a:ext cx="5166360" cy="34747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099816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5B6472"/>
                </a:solidFill>
                <a:latin typeface="Calibri"/>
              </a:rPr>
              <a:t>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081528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dirty="0">
                <a:solidFill>
                  <a:srgbClr val="0A2540"/>
                </a:solidFill>
                <a:latin typeface="Calibri"/>
              </a:rPr>
              <a:t>ESP32-WROOM-32 · Custom hardware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47288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5B6472"/>
                </a:solidFill>
                <a:latin typeface="Calibri"/>
              </a:rPr>
              <a:t>Connectivity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342900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0A2540"/>
                </a:solidFill>
                <a:latin typeface="Calibri"/>
              </a:rPr>
              <a:t>WiFi + 4G LTE (A7670C cellular)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712464"/>
            <a:ext cx="5166360" cy="34747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794760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5B6472"/>
                </a:solidFill>
                <a:latin typeface="Calibri"/>
              </a:rPr>
              <a:t>Industrial bus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3776472"/>
            <a:ext cx="3017520" cy="187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dirty="0">
                <a:solidFill>
                  <a:srgbClr val="0A2540"/>
                </a:solidFill>
                <a:latin typeface="Calibri"/>
              </a:rPr>
              <a:t>RS485 Modbus RTU · 1</a:t>
            </a:r>
            <a:r>
              <a:rPr lang="en-IN" sz="1050" b="0" dirty="0">
                <a:solidFill>
                  <a:srgbClr val="0A2540"/>
                </a:solidFill>
                <a:latin typeface="Calibri"/>
              </a:rPr>
              <a:t>2</a:t>
            </a:r>
            <a:r>
              <a:rPr sz="1050" b="0" dirty="0">
                <a:solidFill>
                  <a:srgbClr val="0A2540"/>
                </a:solidFill>
                <a:latin typeface="Calibri"/>
              </a:rPr>
              <a:t> sensors per unit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142232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5B6472"/>
                </a:solidFill>
                <a:latin typeface="Calibri"/>
              </a:rPr>
              <a:t>Offline storage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4123944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dirty="0">
                <a:solidFill>
                  <a:srgbClr val="0A2540"/>
                </a:solidFill>
                <a:latin typeface="Calibri"/>
              </a:rPr>
              <a:t>SD Card · automatic + chronological replay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407408"/>
            <a:ext cx="5166360" cy="34747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4489704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5B6472"/>
                </a:solidFill>
                <a:latin typeface="Calibri"/>
              </a:rPr>
              <a:t>Timestamps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4471416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0A2540"/>
                </a:solidFill>
                <a:latin typeface="Calibri"/>
              </a:rPr>
              <a:t>DS3231 RTC · accurate even offline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102352"/>
            <a:ext cx="5166360" cy="34747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5184648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5B6472"/>
                </a:solidFill>
                <a:latin typeface="Calibri"/>
              </a:rPr>
              <a:t>Remote management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516636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0A2540"/>
                </a:solidFill>
                <a:latin typeface="Calibri"/>
              </a:rPr>
              <a:t>Azure Device Twin · built-in · no subscription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532120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5B6472"/>
                </a:solidFill>
                <a:latin typeface="Calibri"/>
              </a:rPr>
              <a:t>Configuration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48745" y="551383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0A2540"/>
                </a:solidFill>
                <a:latin typeface="Calibri"/>
              </a:rPr>
              <a:t>Custom web portal · branded UI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5797296"/>
            <a:ext cx="5166360" cy="34747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880000" y="4805585"/>
            <a:ext cx="3017520" cy="187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lang="en-US" sz="1050" dirty="0"/>
              <a:t>Secure firmware updates with backup version </a:t>
            </a:r>
            <a:endParaRPr sz="1050" b="0" dirty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68680" y="5839417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5B6472"/>
                </a:solidFill>
                <a:latin typeface="Calibri"/>
              </a:rPr>
              <a:t>Customization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48745" y="583387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0A2540"/>
                </a:solidFill>
                <a:latin typeface="Calibri"/>
              </a:rPr>
              <a:t>Full source control · any change possible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6161314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5B6472"/>
                </a:solidFill>
                <a:latin typeface="Calibri"/>
              </a:rPr>
              <a:t>Vendor dependency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80000" y="6146878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dirty="0">
                <a:solidFill>
                  <a:srgbClr val="0A2540"/>
                </a:solidFill>
                <a:latin typeface="Calibri"/>
              </a:rPr>
              <a:t>None · built in-house at </a:t>
            </a:r>
            <a:r>
              <a:rPr sz="1050" b="0" dirty="0" err="1">
                <a:solidFill>
                  <a:srgbClr val="0A2540"/>
                </a:solidFill>
                <a:latin typeface="Calibri"/>
              </a:rPr>
              <a:t>FluxGen</a:t>
            </a:r>
            <a:endParaRPr sz="1050" b="0" dirty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262920" y="1965240"/>
            <a:ext cx="5532120" cy="4591008"/>
          </a:xfrm>
          <a:prstGeom prst="rect">
            <a:avLst/>
          </a:prstGeom>
          <a:solidFill>
            <a:srgbClr val="DD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217920" y="1920240"/>
            <a:ext cx="5532120" cy="4571998"/>
          </a:xfrm>
          <a:prstGeom prst="rect">
            <a:avLst/>
          </a:prstGeom>
          <a:solidFill>
            <a:srgbClr val="FFFFFF"/>
          </a:solidFill>
          <a:ln w="9525">
            <a:solidFill>
              <a:srgbClr val="E5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240420" y="1789394"/>
            <a:ext cx="5532120" cy="914400"/>
          </a:xfrm>
          <a:prstGeom prst="rect">
            <a:avLst/>
          </a:prstGeom>
          <a:solidFill>
            <a:srgbClr val="D48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83680" y="1894550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dirty="0">
                <a:solidFill>
                  <a:srgbClr val="FFFFFF"/>
                </a:solidFill>
                <a:latin typeface="Calibri"/>
              </a:rPr>
              <a:t>EXTERNAL · WE BUY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61180" y="2037795"/>
            <a:ext cx="4800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Teltonika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2393987"/>
            <a:ext cx="4800600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dirty="0">
                <a:solidFill>
                  <a:srgbClr val="E4F8F7"/>
                </a:solidFill>
                <a:latin typeface="Calibri"/>
              </a:rPr>
              <a:t>External procurement · TRB</a:t>
            </a:r>
            <a:r>
              <a:rPr lang="en-IN" sz="1000" b="0" dirty="0">
                <a:solidFill>
                  <a:srgbClr val="E4F8F7"/>
                </a:solidFill>
                <a:latin typeface="Calibri"/>
              </a:rPr>
              <a:t>145</a:t>
            </a:r>
            <a:r>
              <a:rPr sz="1000" b="0" dirty="0">
                <a:solidFill>
                  <a:srgbClr val="E4F8F7"/>
                </a:solidFill>
                <a:latin typeface="Calibri"/>
              </a:rPr>
              <a:t> series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3017520"/>
            <a:ext cx="5166360" cy="34747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537960" y="3099816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dirty="0">
                <a:solidFill>
                  <a:srgbClr val="5B6472"/>
                </a:solidFill>
                <a:latin typeface="Calibri"/>
              </a:rPr>
              <a:t>Platform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49640" y="3081528"/>
            <a:ext cx="3017520" cy="187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dirty="0">
                <a:solidFill>
                  <a:srgbClr val="0A2540"/>
                </a:solidFill>
                <a:latin typeface="Calibri"/>
              </a:rPr>
              <a:t>TRB</a:t>
            </a:r>
            <a:r>
              <a:rPr lang="en-IN" sz="1050" b="0" dirty="0">
                <a:solidFill>
                  <a:srgbClr val="0A2540"/>
                </a:solidFill>
                <a:latin typeface="Calibri"/>
              </a:rPr>
              <a:t>145</a:t>
            </a:r>
            <a:r>
              <a:rPr sz="1050" b="0" dirty="0">
                <a:solidFill>
                  <a:srgbClr val="0A2540"/>
                </a:solidFill>
                <a:latin typeface="Calibri"/>
              </a:rPr>
              <a:t> · vendor-built router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37960" y="3447288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5B6472"/>
                </a:solidFill>
                <a:latin typeface="Calibri"/>
              </a:rPr>
              <a:t>Connectivity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49640" y="3429000"/>
            <a:ext cx="3017520" cy="187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dirty="0">
                <a:solidFill>
                  <a:srgbClr val="0A2540"/>
                </a:solidFill>
                <a:latin typeface="Calibri"/>
              </a:rPr>
              <a:t> </a:t>
            </a:r>
            <a:r>
              <a:rPr lang="en-IN" sz="1050" b="0" dirty="0">
                <a:solidFill>
                  <a:srgbClr val="0A2540"/>
                </a:solidFill>
                <a:latin typeface="Calibri"/>
              </a:rPr>
              <a:t>2G/3G/</a:t>
            </a:r>
            <a:r>
              <a:rPr sz="1050" b="0" dirty="0">
                <a:solidFill>
                  <a:srgbClr val="0A2540"/>
                </a:solidFill>
                <a:latin typeface="Calibri"/>
              </a:rPr>
              <a:t>4G LTE 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0" y="3712464"/>
            <a:ext cx="5166360" cy="34747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537960" y="3794760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5B6472"/>
                </a:solidFill>
                <a:latin typeface="Calibri"/>
              </a:rPr>
              <a:t>Industrial bus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49640" y="377647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dirty="0">
                <a:solidFill>
                  <a:srgbClr val="0A2540"/>
                </a:solidFill>
                <a:latin typeface="Calibri"/>
              </a:rPr>
              <a:t>RS232 + RS485 · digital I/O + relay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37960" y="4142232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5B6472"/>
                </a:solidFill>
                <a:latin typeface="Calibri"/>
              </a:rPr>
              <a:t>Offline storage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49640" y="4123944"/>
            <a:ext cx="3017520" cy="187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IN" sz="1050" dirty="0">
                <a:solidFill>
                  <a:srgbClr val="0A2540"/>
                </a:solidFill>
                <a:latin typeface="Calibri"/>
              </a:rPr>
              <a:t>Not Available with version of </a:t>
            </a:r>
            <a:r>
              <a:rPr lang="en-IN" sz="1050" dirty="0" err="1">
                <a:solidFill>
                  <a:srgbClr val="0A2540"/>
                </a:solidFill>
                <a:latin typeface="Calibri"/>
              </a:rPr>
              <a:t>Teltonika</a:t>
            </a:r>
            <a:r>
              <a:rPr lang="en-IN" sz="1050" dirty="0">
                <a:solidFill>
                  <a:srgbClr val="0A2540"/>
                </a:solidFill>
                <a:latin typeface="Calibri"/>
              </a:rPr>
              <a:t> we are using </a:t>
            </a:r>
            <a:endParaRPr sz="1050" b="0" dirty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6400800" y="4407408"/>
            <a:ext cx="5166360" cy="34747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537960" y="4489704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5B6472"/>
                </a:solidFill>
                <a:latin typeface="Calibri"/>
              </a:rPr>
              <a:t>Timestamps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49640" y="4471416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0A2540"/>
                </a:solidFill>
                <a:latin typeface="Calibri"/>
              </a:rPr>
              <a:t>System clock · NTP-synced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0" y="5102352"/>
            <a:ext cx="5166360" cy="34747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537960" y="5184648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5B6472"/>
                </a:solidFill>
                <a:latin typeface="Calibri"/>
              </a:rPr>
              <a:t>Remote management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49640" y="516636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0A2540"/>
                </a:solidFill>
                <a:latin typeface="Calibri"/>
              </a:rPr>
              <a:t>Teltonika RMS · paid subscription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37960" y="5532120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5B6472"/>
                </a:solidFill>
                <a:latin typeface="Calibri"/>
              </a:rPr>
              <a:t>Configuration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49640" y="551383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0A2540"/>
                </a:solidFill>
                <a:latin typeface="Calibri"/>
              </a:rPr>
              <a:t>RutOS web UI · vendor interface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00800" y="5797296"/>
            <a:ext cx="5166360" cy="34747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537960" y="4828903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5B6472"/>
                </a:solidFill>
                <a:latin typeface="Calibri"/>
              </a:rPr>
              <a:t>OTA updates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49640" y="4811776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0A2540"/>
                </a:solidFill>
                <a:latin typeface="Calibri"/>
              </a:rPr>
              <a:t>Vendor-supplied firmware updates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37960" y="5855208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5B6472"/>
                </a:solidFill>
                <a:latin typeface="Calibri"/>
              </a:rPr>
              <a:t>Customization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572140" y="584808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0A2540"/>
                </a:solidFill>
                <a:latin typeface="Calibri"/>
              </a:rPr>
              <a:t>Limited to RutOS parameters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37960" y="6167120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5B6472"/>
                </a:solidFill>
                <a:latin typeface="Calibri"/>
              </a:rPr>
              <a:t>Vendor dependency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49640" y="6141043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0A2540"/>
                </a:solidFill>
                <a:latin typeface="Calibri"/>
              </a:rPr>
              <a:t>Teltonika (Lithuania-based vendor)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769FFDA-BCC2-1320-1215-0E9C7D958FC6}"/>
              </a:ext>
            </a:extLst>
          </p:cNvPr>
          <p:cNvSpPr txBox="1"/>
          <p:nvPr/>
        </p:nvSpPr>
        <p:spPr>
          <a:xfrm>
            <a:off x="868680" y="2783477"/>
            <a:ext cx="192024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IN" sz="950" b="1" dirty="0">
                <a:solidFill>
                  <a:srgbClr val="5B6472"/>
                </a:solidFill>
                <a:latin typeface="Calibri"/>
              </a:rPr>
              <a:t>Cost of Hardware</a:t>
            </a:r>
            <a:endParaRPr sz="950" b="1" dirty="0">
              <a:solidFill>
                <a:srgbClr val="5B6472"/>
              </a:solidFill>
              <a:latin typeface="Calibri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754A6E4-4932-ACCD-23C7-307DFBC87ADA}"/>
              </a:ext>
            </a:extLst>
          </p:cNvPr>
          <p:cNvSpPr txBox="1"/>
          <p:nvPr/>
        </p:nvSpPr>
        <p:spPr>
          <a:xfrm>
            <a:off x="2880360" y="2754663"/>
            <a:ext cx="3017520" cy="187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IN" sz="1050" dirty="0">
                <a:solidFill>
                  <a:srgbClr val="0A2540"/>
                </a:solidFill>
                <a:latin typeface="Calibri"/>
              </a:rPr>
              <a:t>Around 4000 RS including GST</a:t>
            </a:r>
            <a:endParaRPr sz="1050" b="0" dirty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B8AF422-869D-AADE-2531-9305A5FBAFC2}"/>
              </a:ext>
            </a:extLst>
          </p:cNvPr>
          <p:cNvSpPr txBox="1"/>
          <p:nvPr/>
        </p:nvSpPr>
        <p:spPr>
          <a:xfrm>
            <a:off x="6537960" y="2796593"/>
            <a:ext cx="192024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IN" sz="950" b="1" dirty="0">
                <a:solidFill>
                  <a:srgbClr val="5B6472"/>
                </a:solidFill>
                <a:latin typeface="Calibri"/>
              </a:rPr>
              <a:t>Cost of Hardware</a:t>
            </a:r>
            <a:endParaRPr sz="950" b="1" dirty="0">
              <a:solidFill>
                <a:srgbClr val="5B6472"/>
              </a:solidFill>
              <a:latin typeface="Calibri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767B226-86CB-E21E-DAC2-4D749F8CF635}"/>
              </a:ext>
            </a:extLst>
          </p:cNvPr>
          <p:cNvSpPr txBox="1"/>
          <p:nvPr/>
        </p:nvSpPr>
        <p:spPr>
          <a:xfrm>
            <a:off x="8549640" y="2767802"/>
            <a:ext cx="3017520" cy="187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IN" sz="1050" dirty="0">
                <a:solidFill>
                  <a:srgbClr val="0A2540"/>
                </a:solidFill>
                <a:latin typeface="Calibri"/>
              </a:rPr>
              <a:t>Around 9000 RS plus GST</a:t>
            </a:r>
            <a:endParaRPr sz="1050" b="0" dirty="0">
              <a:solidFill>
                <a:srgbClr val="0A2540"/>
              </a:solidFill>
              <a:latin typeface="Calibri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868680" y="4814316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5B6472"/>
                </a:solidFill>
                <a:latin typeface="Calibri"/>
              </a:rPr>
              <a:t>OTA updates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371</Words>
  <Application>Microsoft Office PowerPoint</Application>
  <PresentationFormat>Widescreen</PresentationFormat>
  <Paragraphs>61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chaithanya reddy</cp:lastModifiedBy>
  <cp:revision>8</cp:revision>
  <dcterms:created xsi:type="dcterms:W3CDTF">2013-01-27T09:14:16Z</dcterms:created>
  <dcterms:modified xsi:type="dcterms:W3CDTF">2026-04-23T16:04:55Z</dcterms:modified>
  <cp:category/>
</cp:coreProperties>
</file>